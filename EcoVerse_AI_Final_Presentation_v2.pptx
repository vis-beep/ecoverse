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09B5FDE-01F3-C030-D185-C6E31340F431}">
          <p14:sldIdLst>
            <p14:sldId id="256"/>
            <p14:sldId id="257"/>
          </p14:sldIdLst>
        </p14:section>
        <p14:section name="Solution" id="{E7112E2C-E500-D3F1-2B7E-EC1603B26361}">
          <p14:sldIdLst>
            <p14:sldId id="258"/>
            <p14:sldId id="259"/>
            <p14:sldId id="260"/>
            <p14:sldId id="261"/>
          </p14:sldIdLst>
        </p14:section>
        <p14:section name="Under the hood" id="{2604AE79-0838-5E60-53ED-E33EFC8B523E}">
          <p14:sldIdLst>
            <p14:sldId id="262"/>
            <p14:sldId id="263"/>
          </p14:sldIdLst>
        </p14:section>
        <p14:section name="Demo and outlook" id="{C63FCCCF-23B1-BDD8-7AFB-DC72AD226C2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0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lineChart>
        <c:grouping val="standard"/>
        <c:varyColors val="0"/>
        <c:ser>
          <c:idx val="0"/>
          <c:order val="0"/>
          <c:tx>
            <c:strRef>
              <c:f>Sheet1!$B$1</c:f>
              <c:strCache>
                <c:ptCount val="1"/>
                <c:pt idx="0">
                  <c:v>Baseline</c:v>
                </c:pt>
              </c:strCache>
            </c:strRef>
          </c:tx>
          <c:spPr>
            <a:ln w="31750" cap="flat">
              <a:solidFill>
                <a:srgbClr val="5B7570"/>
              </a:solidFill>
              <a:prstDash val="solid"/>
              <a:round/>
            </a:ln>
            <a:effectLst/>
          </c:spPr>
          <c:marker>
            <c:symbol val="circle"/>
            <c:size val="6"/>
            <c:spPr>
              <a:solidFill>
                <a:srgbClr val="5B7570"/>
              </a:solidFill>
              <a:ln w="9525" cap="flat">
                <a:solidFill>
                  <a:srgbClr val="5B7570"/>
                </a:solidFill>
                <a:prstDash val="solid"/>
                <a:round/>
              </a:ln>
              <a:effectLst/>
            </c:spPr>
          </c:marker>
          <c:cat>
            <c:strRef>
              <c:f>Sheet1!$A$2:$A$9</c:f>
              <c:strCache>
                <c:ptCount val="8"/>
                <c:pt idx="0">
                  <c:v>00</c:v>
                </c:pt>
                <c:pt idx="1">
                  <c:v>04</c:v>
                </c:pt>
                <c:pt idx="2">
                  <c:v>08</c:v>
                </c:pt>
                <c:pt idx="3">
                  <c:v>12</c:v>
                </c:pt>
                <c:pt idx="4">
                  <c:v>14</c:v>
                </c:pt>
                <c:pt idx="5">
                  <c:v>16</c:v>
                </c:pt>
                <c:pt idx="6">
                  <c:v>20</c:v>
                </c:pt>
                <c:pt idx="7">
                  <c:v>23</c:v>
                </c:pt>
              </c:strCache>
            </c:strRef>
          </c:cat>
          <c:val>
            <c:numRef>
              <c:f>Sheet1!$B$2:$B$9</c:f>
              <c:numCache>
                <c:formatCode>General</c:formatCode>
                <c:ptCount val="8"/>
                <c:pt idx="0">
                  <c:v>180</c:v>
                </c:pt>
                <c:pt idx="1">
                  <c:v>160</c:v>
                </c:pt>
                <c:pt idx="2">
                  <c:v>420</c:v>
                </c:pt>
                <c:pt idx="3">
                  <c:v>680</c:v>
                </c:pt>
                <c:pt idx="4">
                  <c:v>740</c:v>
                </c:pt>
                <c:pt idx="5">
                  <c:v>690</c:v>
                </c:pt>
                <c:pt idx="6">
                  <c:v>380</c:v>
                </c:pt>
                <c:pt idx="7">
                  <c:v>220</c:v>
                </c:pt>
              </c:numCache>
            </c:numRef>
          </c:val>
          <c:smooth val="0"/>
        </c:ser>
        <c:ser>
          <c:idx val="1"/>
          <c:order val="1"/>
          <c:tx>
            <c:strRef>
              <c:f>Sheet1!$C$1</c:f>
              <c:strCache>
                <c:ptCount val="1"/>
                <c:pt idx="0">
                  <c:v>Optimized</c:v>
                </c:pt>
              </c:strCache>
            </c:strRef>
          </c:tx>
          <c:spPr>
            <a:ln w="31750" cap="flat">
              <a:solidFill>
                <a:srgbClr val="0F766E"/>
              </a:solidFill>
              <a:prstDash val="solid"/>
              <a:round/>
            </a:ln>
            <a:effectLst/>
          </c:spPr>
          <c:marker>
            <c:symbol val="circle"/>
            <c:size val="6"/>
            <c:spPr>
              <a:solidFill>
                <a:srgbClr val="0F766E"/>
              </a:solidFill>
              <a:ln w="9525" cap="flat">
                <a:solidFill>
                  <a:srgbClr val="0F766E"/>
                </a:solidFill>
                <a:prstDash val="solid"/>
                <a:round/>
              </a:ln>
              <a:effectLst/>
            </c:spPr>
          </c:marker>
          <c:cat>
            <c:strRef>
              <c:f>Sheet1!$A$2:$A$9</c:f>
              <c:strCache>
                <c:ptCount val="8"/>
                <c:pt idx="0">
                  <c:v>00</c:v>
                </c:pt>
                <c:pt idx="1">
                  <c:v>04</c:v>
                </c:pt>
                <c:pt idx="2">
                  <c:v>08</c:v>
                </c:pt>
                <c:pt idx="3">
                  <c:v>12</c:v>
                </c:pt>
                <c:pt idx="4">
                  <c:v>14</c:v>
                </c:pt>
                <c:pt idx="5">
                  <c:v>16</c:v>
                </c:pt>
                <c:pt idx="6">
                  <c:v>20</c:v>
                </c:pt>
                <c:pt idx="7">
                  <c:v>23</c:v>
                </c:pt>
              </c:strCache>
            </c:strRef>
          </c:cat>
          <c:val>
            <c:numRef>
              <c:f>Sheet1!$C$2:$C$9</c:f>
              <c:numCache>
                <c:formatCode>General</c:formatCode>
                <c:ptCount val="8"/>
                <c:pt idx="0">
                  <c:v>130</c:v>
                </c:pt>
                <c:pt idx="1">
                  <c:v>120</c:v>
                </c:pt>
                <c:pt idx="2">
                  <c:v>320</c:v>
                </c:pt>
                <c:pt idx="3">
                  <c:v>490</c:v>
                </c:pt>
                <c:pt idx="4">
                  <c:v>520</c:v>
                </c:pt>
                <c:pt idx="5">
                  <c:v>480</c:v>
                </c:pt>
                <c:pt idx="6">
                  <c:v>260</c:v>
                </c:pt>
                <c:pt idx="7">
                  <c:v>150</c:v>
                </c:pt>
              </c:numCache>
            </c:numRef>
          </c:val>
          <c:smooth val="0"/>
        </c:ser>
        <c:dLbls>
          <c:showLegendKey val="0"/>
          <c:showVal val="0"/>
          <c:showCatName val="0"/>
          <c:showSerName val="0"/>
          <c:showPercent val="0"/>
          <c:showBubbleSize val="0"/>
        </c:dLbls>
        <c:marker val="1"/>
        <c:smooth val="0"/>
        <c:axId val="349243512"/>
        <c:axId val="349249000"/>
      </c:lineChart>
      <c:catAx>
        <c:axId val="34924351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570"/>
                </a:solidFill>
                <a:latin typeface="+mn-lt"/>
              </a:defRPr>
            </a:pPr>
            <a:endParaRPr lang="en-US"/>
          </a:p>
        </c:txPr>
        <c:crossAx val="349249000"/>
        <c:crosses val="autoZero"/>
        <c:auto val="1"/>
        <c:lblAlgn val="ctr"/>
        <c:lblOffset val="100"/>
        <c:noMultiLvlLbl val="1"/>
      </c:catAx>
      <c:valAx>
        <c:axId val="349249000"/>
        <c:scaling>
          <c:orientation val="minMax"/>
          <c:max val="800"/>
          <c:min val="0"/>
        </c:scaling>
        <c:delete val="0"/>
        <c:axPos val="l"/>
        <c:majorGridlines>
          <c:spPr>
            <a:ln w="9525" cap="flat">
              <a:solidFill>
                <a:srgbClr val="D8EF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570"/>
                </a:solidFill>
                <a:latin typeface="+mn-lt"/>
              </a:defRPr>
            </a:pPr>
            <a:endParaRPr lang="en-US"/>
          </a:p>
        </c:txPr>
        <c:crossAx val="349243512"/>
        <c:crosses val="autoZero"/>
        <c:crossBetween val="between"/>
        <c:majorUnit val="200"/>
      </c:valAx>
      <c:spPr>
        <a:noFill/>
        <a:ln>
          <a:noFill/>
        </a:ln>
        <a:effectLst/>
      </c:spPr>
    </c:plotArea>
    <c:legend>
      <c:legendPos val="b"/>
      <c:overlay val="0"/>
      <c:txPr>
        <a:bodyPr/>
        <a:lstStyle/>
        <a:p>
          <a:pPr>
            <a:defRPr sz="1000">
              <a:solidFill>
                <a:srgbClr val="5B75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doughnutChart>
        <c:varyColors val="1"/>
        <c:ser>
          <c:idx val="0"/>
          <c:order val="0"/>
          <c:tx>
            <c:strRef>
              <c:f>Sheet1!$B$1</c:f>
              <c:strCache>
                <c:ptCount val="1"/>
                <c:pt idx="0">
                  <c:v>Scope</c:v>
                </c:pt>
              </c:strCache>
            </c:strRef>
          </c:tx>
          <c:spPr>
            <a:solidFill>
              <a:schemeClr val="accent1"/>
            </a:solidFill>
            <a:ln w="9525" cap="flat">
              <a:solidFill>
                <a:srgbClr val="F9F9F9"/>
              </a:solidFill>
              <a:prstDash val="solid"/>
              <a:round/>
            </a:ln>
            <a:effectLst/>
          </c:spPr>
          <c:dPt>
            <c:idx val="0"/>
            <c:bubble3D val="0"/>
            <c:spPr>
              <a:solidFill>
                <a:srgbClr val="F59E0B"/>
              </a:solidFill>
              <a:ln w="12700" cap="flat">
                <a:solidFill>
                  <a:srgbClr val="FFFFFF"/>
                </a:solidFill>
                <a:prstDash val="solid"/>
                <a:round/>
              </a:ln>
              <a:effectLst/>
            </c:spPr>
          </c:dPt>
          <c:dPt>
            <c:idx val="1"/>
            <c:bubble3D val="0"/>
            <c:spPr>
              <a:solidFill>
                <a:srgbClr val="0F766E"/>
              </a:solidFill>
              <a:ln w="12700" cap="flat">
                <a:solidFill>
                  <a:srgbClr val="FFFFFF"/>
                </a:solidFill>
                <a:prstDash val="solid"/>
                <a:round/>
              </a:ln>
              <a:effectLst/>
            </c:spPr>
          </c:dPt>
          <c:dPt>
            <c:idx val="2"/>
            <c:bubble3D val="0"/>
            <c:spPr>
              <a:solidFill>
                <a:srgbClr val="10B981"/>
              </a:solidFill>
              <a:ln w="12700" cap="flat">
                <a:solidFill>
                  <a:srgbClr val="FFFFFF"/>
                </a:solidFill>
                <a:prstDash val="solid"/>
                <a:round/>
              </a:ln>
              <a:effectLst/>
            </c:spPr>
          </c:dPt>
          <c:dLbls>
            <c:dLbl>
              <c:idx val="0"/>
              <c:numFmt formatCode="0%" sourceLinked="0"/>
              <c:spPr/>
              <c:txPr>
                <a:bodyPr/>
                <a:lstStyle/>
                <a:p>
                  <a:pPr>
                    <a:defRPr sz="10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1"/>
              <c:numFmt formatCode="0%" sourceLinked="0"/>
              <c:spPr/>
              <c:txPr>
                <a:bodyPr/>
                <a:lstStyle/>
                <a:p>
                  <a:pPr>
                    <a:defRPr sz="10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2"/>
              <c:numFmt formatCode="0%" sourceLinked="0"/>
              <c:spPr/>
              <c:txPr>
                <a:bodyPr/>
                <a:lstStyle/>
                <a:p>
                  <a:pPr>
                    <a:defRPr sz="1000" b="0"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Scope 1 gas</c:v>
                </c:pt>
                <c:pt idx="1">
                  <c:v>Scope 2 grid</c:v>
                </c:pt>
                <c:pt idx="2">
                  <c:v>Scope 3 fleet+waste</c:v>
                </c:pt>
              </c:strCache>
            </c:strRef>
          </c:cat>
          <c:val>
            <c:numRef>
              <c:f>Sheet1!$B$2:$B$4</c:f>
              <c:numCache>
                <c:formatCode>General</c:formatCode>
                <c:ptCount val="3"/>
                <c:pt idx="0">
                  <c:v>640</c:v>
                </c:pt>
                <c:pt idx="1">
                  <c:v>1250</c:v>
                </c:pt>
                <c:pt idx="2">
                  <c:v>480</c:v>
                </c:pt>
              </c:numCache>
            </c:numRef>
          </c:val>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solidFill>
                <a:srgbClr val="5B75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4706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EcoVerse AI is a closed-loop campus sustainability platform. This update covers the version now running on Supabase and Vercel, with the CDSIMER campus as the demo site.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02. The pattern is the same for water, energy and waste: someone sees it, nobody owns it, and nobody verifies the fix. The three numbers are from the demo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Perceive with computer vision, understand with the digital twin, act through routing, technician work, admin verification and the Copilot.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hackathon tracks share a single engine. Track 02 is the flagship and the one used for the live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change from the previous version: the student no longer closes the ticket. The technician uploads photo proof, and the administrator approves it (Resolved) or requests rework (back to In Progress).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now shows nine CDSIMER campus blocks. Layers: active issues, smart bins, energy heatmap, solar arrays and AQI. Telemetry is simulated demo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what-if engines are unchanged from the previous version. The energy model caps savings at 38 percent. The carbon baseline is 640 + 1,250 + 480 = 2,370 MT CO2e.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here: Supabase is now wired in. Reports, work-order history and bin readings are stored as JSON rows with Realtime updates, and evidence photos go to a storage bucket. FastAPI and the 15-table schema still exist in the repo but the frontend does not call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as Student, fix as Technician with a proof photo, verify as Administrator. Then show the twin and the Copilot. If time permits, open the site on a phone to show live sync.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what is simulated. The cloud sync is real, but the CV model, telemetry, Copilot and role login are demo-grade. Next step is real auth and a trained classifier.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051560"/>
            <a:ext cx="5120640" cy="868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457200" y="1965960"/>
            <a:ext cx="4754880" cy="77724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WHIT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IN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931920" y="365760"/>
            <a:ext cx="4754880" cy="868680"/>
          </a:xfrm>
          <a:prstGeom prst="rect">
            <a:avLst/>
          </a:prstGeom>
          <a:noFill/>
          <a:ln/>
        </p:spPr>
        <p:txBody>
          <a:bodyPr wrap="square" rtlCol="0"/>
          <a:lstStyle>
            <a:lvl1pPr marL="0" indent="0" algn="l">
              <a:buNone/>
              <a:defRPr lang="en-US" sz="2600" b="1" dirty="0">
                <a:solidFill>
                  <a:schemeClr val="bg1"/>
                </a:solidFill>
              </a:defRPr>
            </a:lvl1pPr>
          </a:lstStyle>
          <a:p>
            <a:pPr marL="0" indent="0" algn="l">
              <a:buNone/>
            </a:pPr>
            <a:endParaRPr lang="en-US" sz="2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rtlCol="0"/>
          <a:lstStyle>
            <a:lvl1pPr marL="0" indent="0" algn="l">
              <a:buNone/>
              <a:defRPr lang="en-US" sz="2600" b="1" dirty="0">
                <a:solidFill>
                  <a:schemeClr val="bg1"/>
                </a:solidFill>
              </a:defRPr>
            </a:lvl1pPr>
          </a:lstStyle>
          <a:p>
            <a:pPr marL="0" indent="0" algn="l">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ampus aerial" descr="Aerial view of the CDSIMER campus"/>
          <p:cNvPicPr>
            <a:picLocks noChangeAspect="1"/>
          </p:cNvPicPr>
          <p:nvPr/>
        </p:nvPicPr>
        <p:blipFill>
          <a:blip r:embed="rId3"/>
          <a:stretch>
            <a:fillRect/>
          </a:stretch>
        </p:blipFill>
        <p:spPr>
          <a:xfrm>
            <a:off x="5852160" y="0"/>
            <a:ext cx="3291840" cy="5143500"/>
          </a:xfrm>
          <a:prstGeom prst="rect">
            <a:avLst/>
          </a:prstGeom>
        </p:spPr>
      </p:pic>
      <p:sp>
        <p:nvSpPr>
          <p:cNvPr id="3" name="Text 0"/>
          <p:cNvSpPr txBox="1"/>
          <p:nvPr/>
        </p:nvSpPr>
        <p:spPr>
          <a:xfrm>
            <a:off x="457200" y="502920"/>
            <a:ext cx="5120640" cy="274320"/>
          </a:xfrm>
          <a:prstGeom prst="rect">
            <a:avLst/>
          </a:prstGeom>
          <a:noFill/>
          <a:ln/>
        </p:spPr>
        <p:txBody>
          <a:bodyPr wrap="square" lIns="0" tIns="0" rIns="0" bIns="0" rtlCol="0" anchor="t"/>
          <a:lstStyle/>
          <a:p>
            <a:pPr marL="0" indent="0">
              <a:buNone/>
            </a:pPr>
            <a:r>
              <a:rPr lang="en-US" sz="1000" b="1" kern="0" spc="200" dirty="0">
                <a:solidFill>
                  <a:schemeClr val="accent2"/>
                </a:solidFill>
              </a:rPr>
              <a:t>FINAL SUBMISSION  |  AI FOR SUSTAINABLE CAMPUSES</a:t>
            </a:r>
            <a:endParaRPr lang="en-US" sz="1000" dirty="0"/>
          </a:p>
        </p:txBody>
      </p:sp>
      <p:sp>
        <p:nvSpPr>
          <p:cNvPr id="4" name="Text 0"/>
          <p:cNvSpPr>
            <a:spLocks noGrp="1"/>
          </p:cNvSpPr>
          <p:nvPr>
            <p:ph type="title" idx="100" hasCustomPrompt="1"/>
          </p:nvPr>
        </p:nvSpPr>
        <p:spPr>
          <a:xfrm>
            <a:off x="457200" y="1051560"/>
            <a:ext cx="5120640" cy="868680"/>
          </a:xfrm>
          <a:prstGeom prst="rect">
            <a:avLst/>
          </a:prstGeom>
          <a:noFill/>
          <a:ln/>
        </p:spPr>
        <p:txBody>
          <a:bodyPr wrap="square" lIns="0" tIns="0" rIns="0" bIns="0" rtlCol="0" anchor="ctr"/>
          <a:lstStyle/>
          <a:p>
            <a:pPr marL="0" indent="0" algn="l">
              <a:buNone/>
            </a:pPr>
            <a:r>
              <a:rPr lang="en-US" sz="4400" b="1" dirty="0">
                <a:solidFill>
                  <a:schemeClr val="bg1"/>
                </a:solidFill>
              </a:rPr>
              <a:t>EcoVerse AI</a:t>
            </a:r>
            <a:endParaRPr lang="en-US" sz="4400" dirty="0"/>
          </a:p>
        </p:txBody>
      </p:sp>
      <p:sp>
        <p:nvSpPr>
          <p:cNvPr id="5" name="Text 0"/>
          <p:cNvSpPr>
            <a:spLocks noGrp="1"/>
          </p:cNvSpPr>
          <p:nvPr>
            <p:ph type="body" idx="101" hasCustomPrompt="1"/>
          </p:nvPr>
        </p:nvSpPr>
        <p:spPr>
          <a:xfrm>
            <a:off x="457200" y="1965960"/>
            <a:ext cx="4754880" cy="777240"/>
          </a:xfrm>
          <a:prstGeom prst="rect">
            <a:avLst/>
          </a:prstGeom>
          <a:noFill/>
          <a:ln/>
        </p:spPr>
        <p:txBody>
          <a:bodyPr wrap="square" lIns="0" tIns="0" rIns="0" bIns="0" rtlCol="0" anchor="t"/>
          <a:lstStyle/>
          <a:p>
            <a:pPr marL="0" indent="0">
              <a:buNone/>
            </a:pPr>
            <a:r>
              <a:rPr lang="en-US" sz="1600" dirty="0">
                <a:solidFill>
                  <a:schemeClr val="bg2"/>
                </a:solidFill>
              </a:rPr>
              <a:t>Turning campus sustainability observations into accountable, measurable action</a:t>
            </a:r>
            <a:endParaRPr lang="en-US" sz="1600" dirty="0"/>
          </a:p>
        </p:txBody>
      </p:sp>
      <p:sp>
        <p:nvSpPr>
          <p:cNvPr id="6" name="Pill Computer Vision circle"/>
          <p:cNvSpPr/>
          <p:nvPr/>
        </p:nvSpPr>
        <p:spPr>
          <a:xfrm>
            <a:off x="457200" y="2926080"/>
            <a:ext cx="329184" cy="329184"/>
          </a:xfrm>
          <a:prstGeom prst="ellipse">
            <a:avLst/>
          </a:prstGeom>
          <a:solidFill>
            <a:schemeClr val="accent1"/>
          </a:solidFill>
          <a:ln w="12700">
            <a:solidFill>
              <a:schemeClr val="accent1"/>
            </a:solidFill>
            <a:prstDash val="solid"/>
          </a:ln>
        </p:spPr>
      </p:sp>
      <p:pic>
        <p:nvPicPr>
          <p:cNvPr id="7" name="Pill Computer Vision icon" descr="Pill Computer Vision"/>
          <p:cNvPicPr>
            <a:picLocks noChangeAspect="1"/>
          </p:cNvPicPr>
          <p:nvPr/>
        </p:nvPicPr>
        <p:blipFill>
          <a:blip r:embed="rId4"/>
          <a:stretch>
            <a:fillRect/>
          </a:stretch>
        </p:blipFill>
        <p:spPr>
          <a:xfrm>
            <a:off x="539496" y="3008376"/>
            <a:ext cx="164592" cy="164592"/>
          </a:xfrm>
          <a:prstGeom prst="rect">
            <a:avLst/>
          </a:prstGeom>
        </p:spPr>
      </p:pic>
      <p:sp>
        <p:nvSpPr>
          <p:cNvPr id="8" name="Text 4"/>
          <p:cNvSpPr txBox="1"/>
          <p:nvPr/>
        </p:nvSpPr>
        <p:spPr>
          <a:xfrm>
            <a:off x="914400" y="2926080"/>
            <a:ext cx="3200400" cy="329184"/>
          </a:xfrm>
          <a:prstGeom prst="rect">
            <a:avLst/>
          </a:prstGeom>
          <a:noFill/>
          <a:ln/>
        </p:spPr>
        <p:txBody>
          <a:bodyPr wrap="square" lIns="0" tIns="0" rIns="0" bIns="0" rtlCol="0" anchor="ctr"/>
          <a:lstStyle/>
          <a:p>
            <a:pPr marL="0" indent="0">
              <a:buNone/>
            </a:pPr>
            <a:r>
              <a:rPr lang="en-US" sz="1400" dirty="0">
                <a:solidFill>
                  <a:schemeClr val="bg1"/>
                </a:solidFill>
              </a:rPr>
              <a:t>Computer Vision</a:t>
            </a:r>
            <a:endParaRPr lang="en-US" sz="1400" dirty="0"/>
          </a:p>
        </p:txBody>
      </p:sp>
      <p:sp>
        <p:nvSpPr>
          <p:cNvPr id="9" name="Pill Digital Twin circle"/>
          <p:cNvSpPr/>
          <p:nvPr/>
        </p:nvSpPr>
        <p:spPr>
          <a:xfrm>
            <a:off x="457200" y="3383280"/>
            <a:ext cx="329184" cy="329184"/>
          </a:xfrm>
          <a:prstGeom prst="ellipse">
            <a:avLst/>
          </a:prstGeom>
          <a:solidFill>
            <a:schemeClr val="accent1"/>
          </a:solidFill>
          <a:ln w="12700">
            <a:solidFill>
              <a:schemeClr val="accent1"/>
            </a:solidFill>
            <a:prstDash val="solid"/>
          </a:ln>
        </p:spPr>
      </p:sp>
      <p:pic>
        <p:nvPicPr>
          <p:cNvPr id="10" name="Pill Digital Twin icon" descr="Pill Digital Twin"/>
          <p:cNvPicPr>
            <a:picLocks noChangeAspect="1"/>
          </p:cNvPicPr>
          <p:nvPr/>
        </p:nvPicPr>
        <p:blipFill>
          <a:blip r:embed="rId5"/>
          <a:stretch>
            <a:fillRect/>
          </a:stretch>
        </p:blipFill>
        <p:spPr>
          <a:xfrm>
            <a:off x="539496" y="3465576"/>
            <a:ext cx="164592" cy="164592"/>
          </a:xfrm>
          <a:prstGeom prst="rect">
            <a:avLst/>
          </a:prstGeom>
        </p:spPr>
      </p:pic>
      <p:sp>
        <p:nvSpPr>
          <p:cNvPr id="11" name="Text 6"/>
          <p:cNvSpPr txBox="1"/>
          <p:nvPr/>
        </p:nvSpPr>
        <p:spPr>
          <a:xfrm>
            <a:off x="914400" y="3383280"/>
            <a:ext cx="3200400" cy="329184"/>
          </a:xfrm>
          <a:prstGeom prst="rect">
            <a:avLst/>
          </a:prstGeom>
          <a:noFill/>
          <a:ln/>
        </p:spPr>
        <p:txBody>
          <a:bodyPr wrap="square" lIns="0" tIns="0" rIns="0" bIns="0" rtlCol="0" anchor="ctr"/>
          <a:lstStyle/>
          <a:p>
            <a:pPr marL="0" indent="0">
              <a:buNone/>
            </a:pPr>
            <a:r>
              <a:rPr lang="en-US" sz="1400" dirty="0">
                <a:solidFill>
                  <a:schemeClr val="bg1"/>
                </a:solidFill>
              </a:rPr>
              <a:t>Digital Twin</a:t>
            </a:r>
            <a:endParaRPr lang="en-US" sz="1400" dirty="0"/>
          </a:p>
        </p:txBody>
      </p:sp>
      <p:sp>
        <p:nvSpPr>
          <p:cNvPr id="12" name="Pill Generative AI circle"/>
          <p:cNvSpPr/>
          <p:nvPr/>
        </p:nvSpPr>
        <p:spPr>
          <a:xfrm>
            <a:off x="457200" y="3840480"/>
            <a:ext cx="329184" cy="329184"/>
          </a:xfrm>
          <a:prstGeom prst="ellipse">
            <a:avLst/>
          </a:prstGeom>
          <a:solidFill>
            <a:schemeClr val="accent1"/>
          </a:solidFill>
          <a:ln w="12700">
            <a:solidFill>
              <a:schemeClr val="accent1"/>
            </a:solidFill>
            <a:prstDash val="solid"/>
          </a:ln>
        </p:spPr>
      </p:sp>
      <p:pic>
        <p:nvPicPr>
          <p:cNvPr id="13" name="Pill Generative AI icon" descr="Pill Generative AI"/>
          <p:cNvPicPr>
            <a:picLocks noChangeAspect="1"/>
          </p:cNvPicPr>
          <p:nvPr/>
        </p:nvPicPr>
        <p:blipFill>
          <a:blip r:embed="rId6"/>
          <a:stretch>
            <a:fillRect/>
          </a:stretch>
        </p:blipFill>
        <p:spPr>
          <a:xfrm>
            <a:off x="539496" y="3922776"/>
            <a:ext cx="164592" cy="164592"/>
          </a:xfrm>
          <a:prstGeom prst="rect">
            <a:avLst/>
          </a:prstGeom>
        </p:spPr>
      </p:pic>
      <p:sp>
        <p:nvSpPr>
          <p:cNvPr id="14" name="Text 8"/>
          <p:cNvSpPr txBox="1"/>
          <p:nvPr/>
        </p:nvSpPr>
        <p:spPr>
          <a:xfrm>
            <a:off x="914400" y="3840480"/>
            <a:ext cx="3200400" cy="329184"/>
          </a:xfrm>
          <a:prstGeom prst="rect">
            <a:avLst/>
          </a:prstGeom>
          <a:noFill/>
          <a:ln/>
        </p:spPr>
        <p:txBody>
          <a:bodyPr wrap="square" lIns="0" tIns="0" rIns="0" bIns="0" rtlCol="0" anchor="ctr"/>
          <a:lstStyle/>
          <a:p>
            <a:pPr marL="0" indent="0">
              <a:buNone/>
            </a:pPr>
            <a:r>
              <a:rPr lang="en-US" sz="1400" dirty="0">
                <a:solidFill>
                  <a:schemeClr val="bg1"/>
                </a:solidFill>
              </a:rPr>
              <a:t>Generative AI</a:t>
            </a:r>
            <a:endParaRPr lang="en-US" sz="1400" dirty="0"/>
          </a:p>
        </p:txBody>
      </p:sp>
      <p:sp>
        <p:nvSpPr>
          <p:cNvPr id="15" name="Text 9"/>
          <p:cNvSpPr txBox="1"/>
          <p:nvPr/>
        </p:nvSpPr>
        <p:spPr>
          <a:xfrm>
            <a:off x="457200" y="4526280"/>
            <a:ext cx="5212080" cy="274320"/>
          </a:xfrm>
          <a:prstGeom prst="rect">
            <a:avLst/>
          </a:prstGeom>
          <a:noFill/>
          <a:ln/>
        </p:spPr>
        <p:txBody>
          <a:bodyPr wrap="square" lIns="0" tIns="0" rIns="0" bIns="0" rtlCol="0" anchor="t"/>
          <a:lstStyle/>
          <a:p>
            <a:pPr marL="0" indent="0">
              <a:buNone/>
            </a:pPr>
            <a:r>
              <a:rPr lang="en-US" sz="1000" dirty="0">
                <a:solidFill>
                  <a:schemeClr val="accent6"/>
                </a:solidFill>
              </a:rPr>
              <a:t>6 tracks  |  3 roles  |  1 closed-loop platform  |  live cloud sync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Campuses see waste. Nobody owns the fix</a:t>
            </a:r>
            <a:endParaRPr lang="en-US" sz="2600" dirty="0"/>
          </a:p>
        </p:txBody>
      </p:sp>
      <p:sp>
        <p:nvSpPr>
          <p:cNvPr id="3" name="Problem banner"/>
          <p:cNvSpPr/>
          <p:nvPr/>
        </p:nvSpPr>
        <p:spPr>
          <a:xfrm>
            <a:off x="457200" y="914400"/>
            <a:ext cx="8229600" cy="1280160"/>
          </a:xfrm>
          <a:prstGeom prst="roundRect">
            <a:avLst>
              <a:gd name="adj" fmla="val 5714"/>
            </a:avLst>
          </a:prstGeom>
          <a:solidFill>
            <a:schemeClr val="tx1"/>
          </a:solidFill>
          <a:ln/>
        </p:spPr>
      </p:sp>
      <p:sp>
        <p:nvSpPr>
          <p:cNvPr id="4" name="Text 2"/>
          <p:cNvSpPr txBox="1"/>
          <p:nvPr/>
        </p:nvSpPr>
        <p:spPr>
          <a:xfrm>
            <a:off x="640080" y="1024128"/>
            <a:ext cx="3657600" cy="201168"/>
          </a:xfrm>
          <a:prstGeom prst="rect">
            <a:avLst/>
          </a:prstGeom>
          <a:noFill/>
          <a:ln/>
        </p:spPr>
        <p:txBody>
          <a:bodyPr wrap="square" lIns="0" tIns="0" rIns="0" bIns="0" rtlCol="0" anchor="t"/>
          <a:lstStyle/>
          <a:p>
            <a:pPr marL="0" indent="0">
              <a:buNone/>
            </a:pPr>
            <a:r>
              <a:rPr lang="en-US" sz="900" b="1" kern="0" spc="200" dirty="0">
                <a:solidFill>
                  <a:schemeClr val="accent2"/>
                </a:solidFill>
              </a:rPr>
              <a:t>PROBLEM STATEMENT 02</a:t>
            </a:r>
            <a:endParaRPr lang="en-US" sz="900" dirty="0"/>
          </a:p>
        </p:txBody>
      </p:sp>
      <p:sp>
        <p:nvSpPr>
          <p:cNvPr id="5" name="Text 3"/>
          <p:cNvSpPr txBox="1"/>
          <p:nvPr/>
        </p:nvSpPr>
        <p:spPr>
          <a:xfrm>
            <a:off x="640080" y="1243584"/>
            <a:ext cx="5486400" cy="274320"/>
          </a:xfrm>
          <a:prstGeom prst="rect">
            <a:avLst/>
          </a:prstGeom>
          <a:noFill/>
          <a:ln/>
        </p:spPr>
        <p:txBody>
          <a:bodyPr wrap="square" lIns="0" tIns="0" rIns="0" bIns="0" rtlCol="0" anchor="t"/>
          <a:lstStyle/>
          <a:p>
            <a:pPr marL="0" indent="0">
              <a:buNone/>
            </a:pPr>
            <a:r>
              <a:rPr lang="en-US" sz="1600" b="1" dirty="0">
                <a:solidFill>
                  <a:schemeClr val="bg1"/>
                </a:solidFill>
                <a:latin typeface="+mj-lt" pitchFamily="34" charset="0"/>
                <a:ea typeface="+mj-lt" pitchFamily="34" charset="-122"/>
                <a:cs typeface="+mj-lt" pitchFamily="34" charset="-120"/>
              </a:rPr>
              <a:t>AI-Powered Sustainable Campus</a:t>
            </a:r>
            <a:endParaRPr lang="en-US" sz="1600" dirty="0"/>
          </a:p>
        </p:txBody>
      </p:sp>
      <p:sp>
        <p:nvSpPr>
          <p:cNvPr id="6" name="Text 4"/>
          <p:cNvSpPr txBox="1"/>
          <p:nvPr/>
        </p:nvSpPr>
        <p:spPr>
          <a:xfrm>
            <a:off x="640080" y="1572768"/>
            <a:ext cx="5760720" cy="566928"/>
          </a:xfrm>
          <a:prstGeom prst="rect">
            <a:avLst/>
          </a:prstGeom>
          <a:noFill/>
          <a:ln/>
        </p:spPr>
        <p:txBody>
          <a:bodyPr wrap="square" lIns="0" tIns="0" rIns="0" bIns="0" rtlCol="0" anchor="t"/>
          <a:lstStyle/>
          <a:p>
            <a:pPr marL="0" indent="0">
              <a:buNone/>
            </a:pPr>
            <a:r>
              <a:rPr lang="en-US" sz="1000" dirty="0">
                <a:solidFill>
                  <a:schemeClr val="bg2"/>
                </a:solidFill>
              </a:rPr>
              <a:t>Design a Digital Twin of a college campus that integrates Computer Vision and sensor data to detect issues such as waste accumulation, energy wastage, water leakage, and inefficient resource usage. Generative AI should generate actionable recommendations and sustainability reports.</a:t>
            </a:r>
            <a:endParaRPr lang="en-US" sz="1000" dirty="0"/>
          </a:p>
        </p:txBody>
      </p:sp>
      <p:sp>
        <p:nvSpPr>
          <p:cNvPr id="7" name="Chip Computer Vision"/>
          <p:cNvSpPr/>
          <p:nvPr/>
        </p:nvSpPr>
        <p:spPr>
          <a:xfrm>
            <a:off x="6601968" y="1234440"/>
            <a:ext cx="969264" cy="310896"/>
          </a:xfrm>
          <a:prstGeom prst="roundRect">
            <a:avLst>
              <a:gd name="adj" fmla="val 50000"/>
            </a:avLst>
          </a:prstGeom>
          <a:solidFill>
            <a:schemeClr val="tx2"/>
          </a:solidFill>
          <a:ln w="12700">
            <a:solidFill>
              <a:schemeClr val="accent1"/>
            </a:solidFill>
            <a:prstDash val="solid"/>
          </a:ln>
        </p:spPr>
      </p:sp>
      <p:sp>
        <p:nvSpPr>
          <p:cNvPr id="8" name="Text 6"/>
          <p:cNvSpPr txBox="1"/>
          <p:nvPr/>
        </p:nvSpPr>
        <p:spPr>
          <a:xfrm>
            <a:off x="6601968" y="1234440"/>
            <a:ext cx="969264" cy="310896"/>
          </a:xfrm>
          <a:prstGeom prst="rect">
            <a:avLst/>
          </a:prstGeom>
          <a:noFill/>
          <a:ln/>
        </p:spPr>
        <p:txBody>
          <a:bodyPr wrap="square" lIns="0" tIns="0" rIns="0" bIns="0" rtlCol="0" anchor="ctr"/>
          <a:lstStyle/>
          <a:p>
            <a:pPr marL="0" indent="0" algn="ctr">
              <a:buNone/>
            </a:pPr>
            <a:r>
              <a:rPr lang="en-US" sz="900" b="1" dirty="0">
                <a:solidFill>
                  <a:schemeClr val="accent2"/>
                </a:solidFill>
              </a:rPr>
              <a:t>Computer Vision</a:t>
            </a:r>
            <a:endParaRPr lang="en-US" sz="900" dirty="0"/>
          </a:p>
        </p:txBody>
      </p:sp>
      <p:sp>
        <p:nvSpPr>
          <p:cNvPr id="9" name="Chip Digital Twin"/>
          <p:cNvSpPr/>
          <p:nvPr/>
        </p:nvSpPr>
        <p:spPr>
          <a:xfrm>
            <a:off x="7626096" y="1234440"/>
            <a:ext cx="969264" cy="310896"/>
          </a:xfrm>
          <a:prstGeom prst="roundRect">
            <a:avLst>
              <a:gd name="adj" fmla="val 50000"/>
            </a:avLst>
          </a:prstGeom>
          <a:solidFill>
            <a:schemeClr val="tx2"/>
          </a:solidFill>
          <a:ln w="12700">
            <a:solidFill>
              <a:schemeClr val="accent1"/>
            </a:solidFill>
            <a:prstDash val="solid"/>
          </a:ln>
        </p:spPr>
      </p:sp>
      <p:sp>
        <p:nvSpPr>
          <p:cNvPr id="10" name="Text 8"/>
          <p:cNvSpPr txBox="1"/>
          <p:nvPr/>
        </p:nvSpPr>
        <p:spPr>
          <a:xfrm>
            <a:off x="7626096" y="1234440"/>
            <a:ext cx="969264" cy="310896"/>
          </a:xfrm>
          <a:prstGeom prst="rect">
            <a:avLst/>
          </a:prstGeom>
          <a:noFill/>
          <a:ln/>
        </p:spPr>
        <p:txBody>
          <a:bodyPr wrap="square" lIns="0" tIns="0" rIns="0" bIns="0" rtlCol="0" anchor="ctr"/>
          <a:lstStyle/>
          <a:p>
            <a:pPr marL="0" indent="0" algn="ctr">
              <a:buNone/>
            </a:pPr>
            <a:r>
              <a:rPr lang="en-US" sz="900" b="1" dirty="0">
                <a:solidFill>
                  <a:schemeClr val="accent2"/>
                </a:solidFill>
              </a:rPr>
              <a:t>Digital Twin</a:t>
            </a:r>
            <a:endParaRPr lang="en-US" sz="900" dirty="0"/>
          </a:p>
        </p:txBody>
      </p:sp>
      <p:sp>
        <p:nvSpPr>
          <p:cNvPr id="11" name="Chip GenAI"/>
          <p:cNvSpPr/>
          <p:nvPr/>
        </p:nvSpPr>
        <p:spPr>
          <a:xfrm>
            <a:off x="6601968" y="1645920"/>
            <a:ext cx="969264" cy="310896"/>
          </a:xfrm>
          <a:prstGeom prst="roundRect">
            <a:avLst>
              <a:gd name="adj" fmla="val 50000"/>
            </a:avLst>
          </a:prstGeom>
          <a:solidFill>
            <a:schemeClr val="tx2"/>
          </a:solidFill>
          <a:ln w="12700">
            <a:solidFill>
              <a:schemeClr val="accent1"/>
            </a:solidFill>
            <a:prstDash val="solid"/>
          </a:ln>
        </p:spPr>
      </p:sp>
      <p:sp>
        <p:nvSpPr>
          <p:cNvPr id="12" name="Text 10"/>
          <p:cNvSpPr txBox="1"/>
          <p:nvPr/>
        </p:nvSpPr>
        <p:spPr>
          <a:xfrm>
            <a:off x="6601968" y="1645920"/>
            <a:ext cx="969264" cy="310896"/>
          </a:xfrm>
          <a:prstGeom prst="rect">
            <a:avLst/>
          </a:prstGeom>
          <a:noFill/>
          <a:ln/>
        </p:spPr>
        <p:txBody>
          <a:bodyPr wrap="square" lIns="0" tIns="0" rIns="0" bIns="0" rtlCol="0" anchor="ctr"/>
          <a:lstStyle/>
          <a:p>
            <a:pPr marL="0" indent="0" algn="ctr">
              <a:buNone/>
            </a:pPr>
            <a:r>
              <a:rPr lang="en-US" sz="900" b="1" dirty="0">
                <a:solidFill>
                  <a:schemeClr val="accent2"/>
                </a:solidFill>
              </a:rPr>
              <a:t>GenAI</a:t>
            </a:r>
            <a:endParaRPr lang="en-US" sz="900" dirty="0"/>
          </a:p>
        </p:txBody>
      </p:sp>
      <p:sp>
        <p:nvSpPr>
          <p:cNvPr id="13" name="Chip Campus"/>
          <p:cNvSpPr/>
          <p:nvPr/>
        </p:nvSpPr>
        <p:spPr>
          <a:xfrm>
            <a:off x="7626096" y="1645920"/>
            <a:ext cx="969264" cy="310896"/>
          </a:xfrm>
          <a:prstGeom prst="roundRect">
            <a:avLst>
              <a:gd name="adj" fmla="val 50000"/>
            </a:avLst>
          </a:prstGeom>
          <a:solidFill>
            <a:schemeClr val="tx2"/>
          </a:solidFill>
          <a:ln w="12700">
            <a:solidFill>
              <a:schemeClr val="accent1"/>
            </a:solidFill>
            <a:prstDash val="solid"/>
          </a:ln>
        </p:spPr>
      </p:sp>
      <p:sp>
        <p:nvSpPr>
          <p:cNvPr id="14" name="Text 12"/>
          <p:cNvSpPr txBox="1"/>
          <p:nvPr/>
        </p:nvSpPr>
        <p:spPr>
          <a:xfrm>
            <a:off x="7626096" y="1645920"/>
            <a:ext cx="969264" cy="310896"/>
          </a:xfrm>
          <a:prstGeom prst="rect">
            <a:avLst/>
          </a:prstGeom>
          <a:noFill/>
          <a:ln/>
        </p:spPr>
        <p:txBody>
          <a:bodyPr wrap="square" lIns="0" tIns="0" rIns="0" bIns="0" rtlCol="0" anchor="ctr"/>
          <a:lstStyle/>
          <a:p>
            <a:pPr marL="0" indent="0" algn="ctr">
              <a:buNone/>
            </a:pPr>
            <a:r>
              <a:rPr lang="en-US" sz="900" b="1" dirty="0">
                <a:solidFill>
                  <a:schemeClr val="accent2"/>
                </a:solidFill>
              </a:rPr>
              <a:t>Campus</a:t>
            </a:r>
            <a:endParaRPr lang="en-US" sz="900" dirty="0"/>
          </a:p>
        </p:txBody>
      </p:sp>
      <p:sp>
        <p:nvSpPr>
          <p:cNvPr id="15" name="Problem card 1"/>
          <p:cNvSpPr/>
          <p:nvPr/>
        </p:nvSpPr>
        <p:spPr>
          <a:xfrm>
            <a:off x="457200" y="2377440"/>
            <a:ext cx="2560320" cy="960120"/>
          </a:xfrm>
          <a:prstGeom prst="roundRect">
            <a:avLst>
              <a:gd name="adj" fmla="val 7619"/>
            </a:avLst>
          </a:prstGeom>
          <a:solidFill>
            <a:schemeClr val="bg1"/>
          </a:solidFill>
          <a:ln/>
          <a:effectLst>
            <a:outerShdw blurRad="76200" dist="25400" dir="5400000" algn="bl" rotWithShape="0">
              <a:srgbClr val="0A1F1C">
                <a:alpha val="12000"/>
              </a:srgbClr>
            </a:outerShdw>
          </a:effectLst>
        </p:spPr>
      </p:sp>
      <p:sp>
        <p:nvSpPr>
          <p:cNvPr id="16" name="Problem 1 circle"/>
          <p:cNvSpPr/>
          <p:nvPr/>
        </p:nvSpPr>
        <p:spPr>
          <a:xfrm>
            <a:off x="594360" y="2514600"/>
            <a:ext cx="347472" cy="347472"/>
          </a:xfrm>
          <a:prstGeom prst="ellipse">
            <a:avLst/>
          </a:prstGeom>
          <a:solidFill>
            <a:schemeClr val="accent4"/>
          </a:solidFill>
          <a:ln w="12700">
            <a:solidFill>
              <a:schemeClr val="accent4"/>
            </a:solidFill>
            <a:prstDash val="solid"/>
          </a:ln>
        </p:spPr>
      </p:sp>
      <p:pic>
        <p:nvPicPr>
          <p:cNvPr id="17" name="Problem 1 icon" descr="Problem 1"/>
          <p:cNvPicPr>
            <a:picLocks noChangeAspect="1"/>
          </p:cNvPicPr>
          <p:nvPr/>
        </p:nvPicPr>
        <p:blipFill>
          <a:blip r:embed="rId3"/>
          <a:stretch>
            <a:fillRect/>
          </a:stretch>
        </p:blipFill>
        <p:spPr>
          <a:xfrm>
            <a:off x="681228" y="2601468"/>
            <a:ext cx="173736" cy="173736"/>
          </a:xfrm>
          <a:prstGeom prst="rect">
            <a:avLst/>
          </a:prstGeom>
        </p:spPr>
      </p:pic>
      <p:sp>
        <p:nvSpPr>
          <p:cNvPr id="18" name="Text 15"/>
          <p:cNvSpPr txBox="1"/>
          <p:nvPr/>
        </p:nvSpPr>
        <p:spPr>
          <a:xfrm>
            <a:off x="1051560" y="2487168"/>
            <a:ext cx="1874520" cy="256032"/>
          </a:xfrm>
          <a:prstGeom prst="rect">
            <a:avLst/>
          </a:prstGeom>
          <a:noFill/>
          <a:ln/>
        </p:spPr>
        <p:txBody>
          <a:bodyPr wrap="square" lIns="0" tIns="0" rIns="0" bIns="0" rtlCol="0" anchor="t"/>
          <a:lstStyle/>
          <a:p>
            <a:pPr marL="0" indent="0">
              <a:buNone/>
            </a:pPr>
            <a:r>
              <a:rPr lang="en-US" sz="1200" b="1" dirty="0">
                <a:solidFill>
                  <a:schemeClr val="tx2"/>
                </a:solidFill>
              </a:rPr>
              <a:t>Someone notices</a:t>
            </a:r>
            <a:endParaRPr lang="en-US" sz="1200" dirty="0"/>
          </a:p>
        </p:txBody>
      </p:sp>
      <p:sp>
        <p:nvSpPr>
          <p:cNvPr id="19" name="Text 16"/>
          <p:cNvSpPr txBox="1"/>
          <p:nvPr/>
        </p:nvSpPr>
        <p:spPr>
          <a:xfrm>
            <a:off x="1051560" y="2761488"/>
            <a:ext cx="1874520" cy="502920"/>
          </a:xfrm>
          <a:prstGeom prst="rect">
            <a:avLst/>
          </a:prstGeom>
          <a:noFill/>
          <a:ln/>
        </p:spPr>
        <p:txBody>
          <a:bodyPr wrap="square" lIns="0" tIns="0" rIns="0" bIns="0" rtlCol="0" anchor="t"/>
          <a:lstStyle/>
          <a:p>
            <a:pPr marL="0" indent="0">
              <a:buNone/>
            </a:pPr>
            <a:r>
              <a:rPr lang="en-US" sz="1000" dirty="0">
                <a:solidFill>
                  <a:schemeClr val="accent6"/>
                </a:solidFill>
              </a:rPr>
              <a:t>A leaking valve, lights on in an empty lab, an overflowing bin.</a:t>
            </a:r>
            <a:endParaRPr lang="en-US" sz="1000" dirty="0"/>
          </a:p>
        </p:txBody>
      </p:sp>
      <p:sp>
        <p:nvSpPr>
          <p:cNvPr id="20" name="Text 17"/>
          <p:cNvSpPr txBox="1"/>
          <p:nvPr/>
        </p:nvSpPr>
        <p:spPr>
          <a:xfrm>
            <a:off x="3017520" y="2606040"/>
            <a:ext cx="274320"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21" name="Problem card 2"/>
          <p:cNvSpPr/>
          <p:nvPr/>
        </p:nvSpPr>
        <p:spPr>
          <a:xfrm>
            <a:off x="3291840" y="2377440"/>
            <a:ext cx="2560320" cy="960120"/>
          </a:xfrm>
          <a:prstGeom prst="roundRect">
            <a:avLst>
              <a:gd name="adj" fmla="val 7619"/>
            </a:avLst>
          </a:prstGeom>
          <a:solidFill>
            <a:schemeClr val="bg1"/>
          </a:solidFill>
          <a:ln/>
          <a:effectLst>
            <a:outerShdw blurRad="76200" dist="25400" dir="5400000" algn="bl" rotWithShape="0">
              <a:srgbClr val="0A1F1C">
                <a:alpha val="12000"/>
              </a:srgbClr>
            </a:outerShdw>
          </a:effectLst>
        </p:spPr>
      </p:sp>
      <p:sp>
        <p:nvSpPr>
          <p:cNvPr id="22" name="Problem 2 circle"/>
          <p:cNvSpPr/>
          <p:nvPr/>
        </p:nvSpPr>
        <p:spPr>
          <a:xfrm>
            <a:off x="3429000" y="2514600"/>
            <a:ext cx="347472" cy="347472"/>
          </a:xfrm>
          <a:prstGeom prst="ellipse">
            <a:avLst/>
          </a:prstGeom>
          <a:solidFill>
            <a:schemeClr val="accent4"/>
          </a:solidFill>
          <a:ln w="12700">
            <a:solidFill>
              <a:schemeClr val="accent4"/>
            </a:solidFill>
            <a:prstDash val="solid"/>
          </a:ln>
        </p:spPr>
      </p:sp>
      <p:pic>
        <p:nvPicPr>
          <p:cNvPr id="23" name="Problem 2 icon" descr="Problem 2"/>
          <p:cNvPicPr>
            <a:picLocks noChangeAspect="1"/>
          </p:cNvPicPr>
          <p:nvPr/>
        </p:nvPicPr>
        <p:blipFill>
          <a:blip r:embed="rId4"/>
          <a:stretch>
            <a:fillRect/>
          </a:stretch>
        </p:blipFill>
        <p:spPr>
          <a:xfrm>
            <a:off x="3515868" y="2601468"/>
            <a:ext cx="173736" cy="173736"/>
          </a:xfrm>
          <a:prstGeom prst="rect">
            <a:avLst/>
          </a:prstGeom>
        </p:spPr>
      </p:pic>
      <p:sp>
        <p:nvSpPr>
          <p:cNvPr id="24" name="Text 20"/>
          <p:cNvSpPr txBox="1"/>
          <p:nvPr/>
        </p:nvSpPr>
        <p:spPr>
          <a:xfrm>
            <a:off x="3886200" y="2487168"/>
            <a:ext cx="1874520" cy="256032"/>
          </a:xfrm>
          <a:prstGeom prst="rect">
            <a:avLst/>
          </a:prstGeom>
          <a:noFill/>
          <a:ln/>
        </p:spPr>
        <p:txBody>
          <a:bodyPr wrap="square" lIns="0" tIns="0" rIns="0" bIns="0" rtlCol="0" anchor="t"/>
          <a:lstStyle/>
          <a:p>
            <a:pPr marL="0" indent="0">
              <a:buNone/>
            </a:pPr>
            <a:r>
              <a:rPr lang="en-US" sz="1200" b="1" dirty="0">
                <a:solidFill>
                  <a:schemeClr val="tx2"/>
                </a:solidFill>
              </a:rPr>
              <a:t>Report goes nowhere</a:t>
            </a:r>
            <a:endParaRPr lang="en-US" sz="1200" dirty="0"/>
          </a:p>
        </p:txBody>
      </p:sp>
      <p:sp>
        <p:nvSpPr>
          <p:cNvPr id="25" name="Text 21"/>
          <p:cNvSpPr txBox="1"/>
          <p:nvPr/>
        </p:nvSpPr>
        <p:spPr>
          <a:xfrm>
            <a:off x="3886200" y="2761488"/>
            <a:ext cx="1874520" cy="502920"/>
          </a:xfrm>
          <a:prstGeom prst="rect">
            <a:avLst/>
          </a:prstGeom>
          <a:noFill/>
          <a:ln/>
        </p:spPr>
        <p:txBody>
          <a:bodyPr wrap="square" lIns="0" tIns="0" rIns="0" bIns="0" rtlCol="0" anchor="t"/>
          <a:lstStyle/>
          <a:p>
            <a:pPr marL="0" indent="0">
              <a:buNone/>
            </a:pPr>
            <a:r>
              <a:rPr lang="en-US" sz="1000" dirty="0">
                <a:solidFill>
                  <a:schemeClr val="accent6"/>
                </a:solidFill>
              </a:rPr>
              <a:t>No classification, no routing, no named owner to act on it.</a:t>
            </a:r>
            <a:endParaRPr lang="en-US" sz="1000" dirty="0"/>
          </a:p>
        </p:txBody>
      </p:sp>
      <p:sp>
        <p:nvSpPr>
          <p:cNvPr id="26" name="Text 22"/>
          <p:cNvSpPr txBox="1"/>
          <p:nvPr/>
        </p:nvSpPr>
        <p:spPr>
          <a:xfrm>
            <a:off x="5852160" y="2606040"/>
            <a:ext cx="274320" cy="45720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27" name="Problem card 3"/>
          <p:cNvSpPr/>
          <p:nvPr/>
        </p:nvSpPr>
        <p:spPr>
          <a:xfrm>
            <a:off x="6126480" y="2377440"/>
            <a:ext cx="2560320" cy="960120"/>
          </a:xfrm>
          <a:prstGeom prst="roundRect">
            <a:avLst>
              <a:gd name="adj" fmla="val 7619"/>
            </a:avLst>
          </a:prstGeom>
          <a:solidFill>
            <a:schemeClr val="bg1"/>
          </a:solidFill>
          <a:ln/>
          <a:effectLst>
            <a:outerShdw blurRad="76200" dist="25400" dir="5400000" algn="bl" rotWithShape="0">
              <a:srgbClr val="0A1F1C">
                <a:alpha val="12000"/>
              </a:srgbClr>
            </a:outerShdw>
          </a:effectLst>
        </p:spPr>
      </p:sp>
      <p:sp>
        <p:nvSpPr>
          <p:cNvPr id="28" name="Problem 3 circle"/>
          <p:cNvSpPr/>
          <p:nvPr/>
        </p:nvSpPr>
        <p:spPr>
          <a:xfrm>
            <a:off x="6263640" y="2514600"/>
            <a:ext cx="347472" cy="347472"/>
          </a:xfrm>
          <a:prstGeom prst="ellipse">
            <a:avLst/>
          </a:prstGeom>
          <a:solidFill>
            <a:schemeClr val="accent4"/>
          </a:solidFill>
          <a:ln w="12700">
            <a:solidFill>
              <a:schemeClr val="accent4"/>
            </a:solidFill>
            <a:prstDash val="solid"/>
          </a:ln>
        </p:spPr>
      </p:sp>
      <p:pic>
        <p:nvPicPr>
          <p:cNvPr id="29" name="Problem 3 icon" descr="Problem 3"/>
          <p:cNvPicPr>
            <a:picLocks noChangeAspect="1"/>
          </p:cNvPicPr>
          <p:nvPr/>
        </p:nvPicPr>
        <p:blipFill>
          <a:blip r:embed="rId5"/>
          <a:stretch>
            <a:fillRect/>
          </a:stretch>
        </p:blipFill>
        <p:spPr>
          <a:xfrm>
            <a:off x="6350508" y="2601468"/>
            <a:ext cx="173736" cy="173736"/>
          </a:xfrm>
          <a:prstGeom prst="rect">
            <a:avLst/>
          </a:prstGeom>
        </p:spPr>
      </p:pic>
      <p:sp>
        <p:nvSpPr>
          <p:cNvPr id="30" name="Text 25"/>
          <p:cNvSpPr txBox="1"/>
          <p:nvPr/>
        </p:nvSpPr>
        <p:spPr>
          <a:xfrm>
            <a:off x="6720840" y="2487168"/>
            <a:ext cx="1874520" cy="256032"/>
          </a:xfrm>
          <a:prstGeom prst="rect">
            <a:avLst/>
          </a:prstGeom>
          <a:noFill/>
          <a:ln/>
        </p:spPr>
        <p:txBody>
          <a:bodyPr wrap="square" lIns="0" tIns="0" rIns="0" bIns="0" rtlCol="0" anchor="t"/>
          <a:lstStyle/>
          <a:p>
            <a:pPr marL="0" indent="0">
              <a:buNone/>
            </a:pPr>
            <a:r>
              <a:rPr lang="en-US" sz="1200" b="1" dirty="0">
                <a:solidFill>
                  <a:schemeClr val="tx2"/>
                </a:solidFill>
              </a:rPr>
              <a:t>Fix never verified</a:t>
            </a:r>
            <a:endParaRPr lang="en-US" sz="1200" dirty="0"/>
          </a:p>
        </p:txBody>
      </p:sp>
      <p:sp>
        <p:nvSpPr>
          <p:cNvPr id="31" name="Text 26"/>
          <p:cNvSpPr txBox="1"/>
          <p:nvPr/>
        </p:nvSpPr>
        <p:spPr>
          <a:xfrm>
            <a:off x="6720840" y="2761488"/>
            <a:ext cx="1874520" cy="502920"/>
          </a:xfrm>
          <a:prstGeom prst="rect">
            <a:avLst/>
          </a:prstGeom>
          <a:noFill/>
          <a:ln/>
        </p:spPr>
        <p:txBody>
          <a:bodyPr wrap="square" lIns="0" tIns="0" rIns="0" bIns="0" rtlCol="0" anchor="t"/>
          <a:lstStyle/>
          <a:p>
            <a:pPr marL="0" indent="0">
              <a:buNone/>
            </a:pPr>
            <a:r>
              <a:rPr lang="en-US" sz="1000" dirty="0">
                <a:solidFill>
                  <a:schemeClr val="accent6"/>
                </a:solidFill>
              </a:rPr>
              <a:t>Nobody confirms it worked, so the same hotspots keep returning.</a:t>
            </a:r>
            <a:endParaRPr lang="en-US" sz="1000" dirty="0"/>
          </a:p>
        </p:txBody>
      </p:sp>
      <p:sp>
        <p:nvSpPr>
          <p:cNvPr id="32" name="Text 27"/>
          <p:cNvSpPr txBox="1"/>
          <p:nvPr/>
        </p:nvSpPr>
        <p:spPr>
          <a:xfrm>
            <a:off x="457200" y="3520440"/>
            <a:ext cx="548640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THE SAME WASTE, ACROSS EVERY RESOURCE</a:t>
            </a:r>
            <a:endParaRPr lang="en-US" sz="900" dirty="0"/>
          </a:p>
        </p:txBody>
      </p:sp>
      <p:sp>
        <p:nvSpPr>
          <p:cNvPr id="33" name="Stat tile 1"/>
          <p:cNvSpPr/>
          <p:nvPr/>
        </p:nvSpPr>
        <p:spPr>
          <a:xfrm>
            <a:off x="457200" y="3767328"/>
            <a:ext cx="2560320" cy="914400"/>
          </a:xfrm>
          <a:prstGeom prst="roundRect">
            <a:avLst>
              <a:gd name="adj" fmla="val 8000"/>
            </a:avLst>
          </a:prstGeom>
          <a:solidFill>
            <a:schemeClr val="accent5"/>
          </a:solidFill>
          <a:ln/>
        </p:spPr>
      </p:sp>
      <p:sp>
        <p:nvSpPr>
          <p:cNvPr id="34" name="Text 29"/>
          <p:cNvSpPr txBox="1"/>
          <p:nvPr/>
        </p:nvSpPr>
        <p:spPr>
          <a:xfrm>
            <a:off x="594360" y="3822192"/>
            <a:ext cx="2286000" cy="365760"/>
          </a:xfrm>
          <a:prstGeom prst="rect">
            <a:avLst/>
          </a:prstGeom>
          <a:noFill/>
          <a:ln/>
        </p:spPr>
        <p:txBody>
          <a:bodyPr wrap="square" lIns="0" tIns="0" rIns="0" bIns="0" rtlCol="0" anchor="ctr"/>
          <a:lstStyle/>
          <a:p>
            <a:pPr marL="0" indent="0">
              <a:buNone/>
            </a:pPr>
            <a:r>
              <a:rPr lang="en-US" sz="2000" b="1" dirty="0">
                <a:solidFill>
                  <a:schemeClr val="accent1"/>
                </a:solidFill>
                <a:latin typeface="+mj-lt" pitchFamily="34" charset="0"/>
                <a:ea typeface="+mj-lt" pitchFamily="34" charset="-122"/>
                <a:cs typeface="+mj-lt" pitchFamily="34" charset="-120"/>
              </a:rPr>
              <a:t>15 L/min</a:t>
            </a:r>
            <a:endParaRPr lang="en-US" sz="2000" dirty="0"/>
          </a:p>
        </p:txBody>
      </p:sp>
      <p:sp>
        <p:nvSpPr>
          <p:cNvPr id="35" name="Text 30"/>
          <p:cNvSpPr txBox="1"/>
          <p:nvPr/>
        </p:nvSpPr>
        <p:spPr>
          <a:xfrm>
            <a:off x="594360" y="4206240"/>
            <a:ext cx="2286000" cy="411480"/>
          </a:xfrm>
          <a:prstGeom prst="rect">
            <a:avLst/>
          </a:prstGeom>
          <a:noFill/>
          <a:ln/>
        </p:spPr>
        <p:txBody>
          <a:bodyPr wrap="square" lIns="0" tIns="0" rIns="0" bIns="0" rtlCol="0" anchor="t"/>
          <a:lstStyle/>
          <a:p>
            <a:pPr marL="0" indent="0">
              <a:buNone/>
            </a:pPr>
            <a:r>
              <a:rPr lang="en-US" sz="1000" dirty="0">
                <a:solidFill>
                  <a:schemeClr val="tx2"/>
                </a:solidFill>
              </a:rPr>
              <a:t>water lost to one stuck flush valve (demo ticket ECO-2026-0104)</a:t>
            </a:r>
            <a:endParaRPr lang="en-US" sz="1000" dirty="0"/>
          </a:p>
        </p:txBody>
      </p:sp>
      <p:sp>
        <p:nvSpPr>
          <p:cNvPr id="36" name="Stat tile 2"/>
          <p:cNvSpPr/>
          <p:nvPr/>
        </p:nvSpPr>
        <p:spPr>
          <a:xfrm>
            <a:off x="3291840" y="3767328"/>
            <a:ext cx="2560320" cy="914400"/>
          </a:xfrm>
          <a:prstGeom prst="roundRect">
            <a:avLst>
              <a:gd name="adj" fmla="val 8000"/>
            </a:avLst>
          </a:prstGeom>
          <a:solidFill>
            <a:schemeClr val="accent5"/>
          </a:solidFill>
          <a:ln/>
        </p:spPr>
      </p:sp>
      <p:sp>
        <p:nvSpPr>
          <p:cNvPr id="37" name="Text 32"/>
          <p:cNvSpPr txBox="1"/>
          <p:nvPr/>
        </p:nvSpPr>
        <p:spPr>
          <a:xfrm>
            <a:off x="3429000" y="3822192"/>
            <a:ext cx="2286000" cy="365760"/>
          </a:xfrm>
          <a:prstGeom prst="rect">
            <a:avLst/>
          </a:prstGeom>
          <a:noFill/>
          <a:ln/>
        </p:spPr>
        <p:txBody>
          <a:bodyPr wrap="square" lIns="0" tIns="0" rIns="0" bIns="0" rtlCol="0" anchor="ctr"/>
          <a:lstStyle/>
          <a:p>
            <a:pPr marL="0" indent="0">
              <a:buNone/>
            </a:pPr>
            <a:r>
              <a:rPr lang="en-US" sz="2000" b="1" dirty="0">
                <a:solidFill>
                  <a:schemeClr val="accent1"/>
                </a:solidFill>
                <a:latin typeface="+mj-lt" pitchFamily="34" charset="0"/>
                <a:ea typeface="+mj-lt" pitchFamily="34" charset="-122"/>
                <a:cs typeface="+mj-lt" pitchFamily="34" charset="-120"/>
              </a:rPr>
              <a:t>10% or 100%</a:t>
            </a:r>
            <a:endParaRPr lang="en-US" sz="2000" dirty="0"/>
          </a:p>
        </p:txBody>
      </p:sp>
      <p:sp>
        <p:nvSpPr>
          <p:cNvPr id="38" name="Text 33"/>
          <p:cNvSpPr txBox="1"/>
          <p:nvPr/>
        </p:nvSpPr>
        <p:spPr>
          <a:xfrm>
            <a:off x="3429000" y="4206240"/>
            <a:ext cx="2286000" cy="411480"/>
          </a:xfrm>
          <a:prstGeom prst="rect">
            <a:avLst/>
          </a:prstGeom>
          <a:noFill/>
          <a:ln/>
        </p:spPr>
        <p:txBody>
          <a:bodyPr wrap="square" lIns="0" tIns="0" rIns="0" bIns="0" rtlCol="0" anchor="t"/>
          <a:lstStyle/>
          <a:p>
            <a:pPr marL="0" indent="0">
              <a:buNone/>
            </a:pPr>
            <a:r>
              <a:rPr lang="en-US" sz="1000" dirty="0">
                <a:solidFill>
                  <a:schemeClr val="tx2"/>
                </a:solidFill>
              </a:rPr>
              <a:t>bins get collected on rigid truck rounds, regardless of fullness</a:t>
            </a:r>
            <a:endParaRPr lang="en-US" sz="1000" dirty="0"/>
          </a:p>
        </p:txBody>
      </p:sp>
      <p:sp>
        <p:nvSpPr>
          <p:cNvPr id="39" name="Stat tile 3"/>
          <p:cNvSpPr/>
          <p:nvPr/>
        </p:nvSpPr>
        <p:spPr>
          <a:xfrm>
            <a:off x="6126480" y="3767328"/>
            <a:ext cx="2560320" cy="914400"/>
          </a:xfrm>
          <a:prstGeom prst="roundRect">
            <a:avLst>
              <a:gd name="adj" fmla="val 8000"/>
            </a:avLst>
          </a:prstGeom>
          <a:solidFill>
            <a:schemeClr val="accent5"/>
          </a:solidFill>
          <a:ln/>
        </p:spPr>
      </p:sp>
      <p:sp>
        <p:nvSpPr>
          <p:cNvPr id="40" name="Text 35"/>
          <p:cNvSpPr txBox="1"/>
          <p:nvPr/>
        </p:nvSpPr>
        <p:spPr>
          <a:xfrm>
            <a:off x="6263640" y="3822192"/>
            <a:ext cx="2286000" cy="365760"/>
          </a:xfrm>
          <a:prstGeom prst="rect">
            <a:avLst/>
          </a:prstGeom>
          <a:noFill/>
          <a:ln/>
        </p:spPr>
        <p:txBody>
          <a:bodyPr wrap="square" lIns="0" tIns="0" rIns="0" bIns="0" rtlCol="0" anchor="ctr"/>
          <a:lstStyle/>
          <a:p>
            <a:pPr marL="0" indent="0">
              <a:buNone/>
            </a:pPr>
            <a:r>
              <a:rPr lang="en-US" sz="2000" b="1" dirty="0">
                <a:solidFill>
                  <a:schemeClr val="accent1"/>
                </a:solidFill>
                <a:latin typeface="+mj-lt" pitchFamily="34" charset="0"/>
                <a:ea typeface="+mj-lt" pitchFamily="34" charset="-122"/>
                <a:cs typeface="+mj-lt" pitchFamily="34" charset="-120"/>
              </a:rPr>
              <a:t>0% occupancy</a:t>
            </a:r>
            <a:endParaRPr lang="en-US" sz="2000" dirty="0"/>
          </a:p>
        </p:txBody>
      </p:sp>
      <p:sp>
        <p:nvSpPr>
          <p:cNvPr id="41" name="Text 36"/>
          <p:cNvSpPr txBox="1"/>
          <p:nvPr/>
        </p:nvSpPr>
        <p:spPr>
          <a:xfrm>
            <a:off x="6263640" y="4206240"/>
            <a:ext cx="2286000" cy="411480"/>
          </a:xfrm>
          <a:prstGeom prst="rect">
            <a:avLst/>
          </a:prstGeom>
          <a:noFill/>
          <a:ln/>
        </p:spPr>
        <p:txBody>
          <a:bodyPr wrap="square" lIns="0" tIns="0" rIns="0" bIns="0" rtlCol="0" anchor="t"/>
          <a:lstStyle/>
          <a:p>
            <a:pPr marL="0" indent="0">
              <a:buNone/>
            </a:pPr>
            <a:r>
              <a:rPr lang="en-US" sz="1000" dirty="0">
                <a:solidFill>
                  <a:schemeClr val="tx2"/>
                </a:solidFill>
              </a:rPr>
              <a:t>labs still lit up with nobody inside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One loop: perceive, understand, act</a:t>
            </a:r>
            <a:endParaRPr lang="en-US" sz="2600" dirty="0"/>
          </a:p>
        </p:txBody>
      </p:sp>
      <p:sp>
        <p:nvSpPr>
          <p:cNvPr id="3" name="Loop Computer Vision circle"/>
          <p:cNvSpPr/>
          <p:nvPr/>
        </p:nvSpPr>
        <p:spPr>
          <a:xfrm>
            <a:off x="1280160" y="1005840"/>
            <a:ext cx="914400" cy="914400"/>
          </a:xfrm>
          <a:prstGeom prst="ellipse">
            <a:avLst/>
          </a:prstGeom>
          <a:solidFill>
            <a:schemeClr val="accent1"/>
          </a:solidFill>
          <a:ln w="12700">
            <a:solidFill>
              <a:schemeClr val="accent1"/>
            </a:solidFill>
            <a:prstDash val="solid"/>
          </a:ln>
        </p:spPr>
      </p:sp>
      <p:pic>
        <p:nvPicPr>
          <p:cNvPr id="4" name="Loop Computer Vision icon" descr="Loop Computer Vision"/>
          <p:cNvPicPr>
            <a:picLocks noChangeAspect="1"/>
          </p:cNvPicPr>
          <p:nvPr/>
        </p:nvPicPr>
        <p:blipFill>
          <a:blip r:embed="rId3"/>
          <a:stretch>
            <a:fillRect/>
          </a:stretch>
        </p:blipFill>
        <p:spPr>
          <a:xfrm>
            <a:off x="1508760" y="1234440"/>
            <a:ext cx="457200" cy="457200"/>
          </a:xfrm>
          <a:prstGeom prst="rect">
            <a:avLst/>
          </a:prstGeom>
        </p:spPr>
      </p:pic>
      <p:sp>
        <p:nvSpPr>
          <p:cNvPr id="5" name="Text 2"/>
          <p:cNvSpPr txBox="1"/>
          <p:nvPr/>
        </p:nvSpPr>
        <p:spPr>
          <a:xfrm>
            <a:off x="457200" y="2057400"/>
            <a:ext cx="2560320" cy="201168"/>
          </a:xfrm>
          <a:prstGeom prst="rect">
            <a:avLst/>
          </a:prstGeom>
          <a:noFill/>
          <a:ln/>
        </p:spPr>
        <p:txBody>
          <a:bodyPr wrap="square" lIns="0" tIns="0" rIns="0" bIns="0" rtlCol="0" anchor="t"/>
          <a:lstStyle/>
          <a:p>
            <a:pPr marL="0" indent="0" algn="ctr">
              <a:buNone/>
            </a:pPr>
            <a:r>
              <a:rPr lang="en-US" sz="900" b="1" kern="0" spc="200" dirty="0">
                <a:solidFill>
                  <a:schemeClr val="accent6"/>
                </a:solidFill>
              </a:rPr>
              <a:t>PERCEIVE</a:t>
            </a:r>
            <a:endParaRPr lang="en-US" sz="900" dirty="0"/>
          </a:p>
        </p:txBody>
      </p:sp>
      <p:sp>
        <p:nvSpPr>
          <p:cNvPr id="6" name="Text 3"/>
          <p:cNvSpPr txBox="1"/>
          <p:nvPr/>
        </p:nvSpPr>
        <p:spPr>
          <a:xfrm>
            <a:off x="457200" y="2286000"/>
            <a:ext cx="2560320" cy="292608"/>
          </a:xfrm>
          <a:prstGeom prst="rect">
            <a:avLst/>
          </a:prstGeom>
          <a:noFill/>
          <a:ln/>
        </p:spPr>
        <p:txBody>
          <a:bodyPr wrap="square" lIns="0" tIns="0" rIns="0" bIns="0" rtlCol="0" anchor="t"/>
          <a:lstStyle/>
          <a:p>
            <a:pPr marL="0" indent="0" algn="ctr">
              <a:buNone/>
            </a:pPr>
            <a:r>
              <a:rPr lang="en-US" sz="1500" b="1" dirty="0">
                <a:solidFill>
                  <a:schemeClr val="tx2"/>
                </a:solidFill>
                <a:latin typeface="+mj-lt" pitchFamily="34" charset="0"/>
                <a:ea typeface="+mj-lt" pitchFamily="34" charset="-122"/>
                <a:cs typeface="+mj-lt" pitchFamily="34" charset="-120"/>
              </a:rPr>
              <a:t>Computer Vision</a:t>
            </a:r>
            <a:endParaRPr lang="en-US" sz="1500" dirty="0"/>
          </a:p>
        </p:txBody>
      </p:sp>
      <p:sp>
        <p:nvSpPr>
          <p:cNvPr id="7" name="Text 4"/>
          <p:cNvSpPr txBox="1"/>
          <p:nvPr/>
        </p:nvSpPr>
        <p:spPr>
          <a:xfrm>
            <a:off x="548640" y="2651760"/>
            <a:ext cx="2377440" cy="914400"/>
          </a:xfrm>
          <a:prstGeom prst="rect">
            <a:avLst/>
          </a:prstGeom>
          <a:noFill/>
          <a:ln/>
        </p:spPr>
        <p:txBody>
          <a:bodyPr wrap="square" lIns="0" tIns="0" rIns="0" bIns="0" rtlCol="0" anchor="t"/>
          <a:lstStyle/>
          <a:p>
            <a:pPr marL="0" indent="0" algn="ctr">
              <a:buNone/>
            </a:pPr>
            <a:r>
              <a:rPr lang="en-US" sz="1100" dirty="0">
                <a:solidFill>
                  <a:schemeClr val="accent6"/>
                </a:solidFill>
              </a:rPr>
              <a:t>Reads photos of leaks, lit empty rooms, contaminated bins and e-waste, then suggests a category and urgency.</a:t>
            </a:r>
            <a:endParaRPr lang="en-US" sz="1100" dirty="0"/>
          </a:p>
        </p:txBody>
      </p:sp>
      <p:sp>
        <p:nvSpPr>
          <p:cNvPr id="8" name="Text 5"/>
          <p:cNvSpPr txBox="1"/>
          <p:nvPr/>
        </p:nvSpPr>
        <p:spPr>
          <a:xfrm>
            <a:off x="3017520" y="1188720"/>
            <a:ext cx="274320" cy="54864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9" name="Loop Digital Twin circle"/>
          <p:cNvSpPr/>
          <p:nvPr/>
        </p:nvSpPr>
        <p:spPr>
          <a:xfrm>
            <a:off x="4114800" y="1005840"/>
            <a:ext cx="914400" cy="914400"/>
          </a:xfrm>
          <a:prstGeom prst="ellipse">
            <a:avLst/>
          </a:prstGeom>
          <a:solidFill>
            <a:schemeClr val="accent1"/>
          </a:solidFill>
          <a:ln w="12700">
            <a:solidFill>
              <a:schemeClr val="accent1"/>
            </a:solidFill>
            <a:prstDash val="solid"/>
          </a:ln>
        </p:spPr>
      </p:sp>
      <p:pic>
        <p:nvPicPr>
          <p:cNvPr id="10" name="Loop Digital Twin icon" descr="Loop Digital Twin"/>
          <p:cNvPicPr>
            <a:picLocks noChangeAspect="1"/>
          </p:cNvPicPr>
          <p:nvPr/>
        </p:nvPicPr>
        <p:blipFill>
          <a:blip r:embed="rId4"/>
          <a:stretch>
            <a:fillRect/>
          </a:stretch>
        </p:blipFill>
        <p:spPr>
          <a:xfrm>
            <a:off x="4343400" y="1234440"/>
            <a:ext cx="457200" cy="457200"/>
          </a:xfrm>
          <a:prstGeom prst="rect">
            <a:avLst/>
          </a:prstGeom>
        </p:spPr>
      </p:pic>
      <p:sp>
        <p:nvSpPr>
          <p:cNvPr id="11" name="Text 7"/>
          <p:cNvSpPr txBox="1"/>
          <p:nvPr/>
        </p:nvSpPr>
        <p:spPr>
          <a:xfrm>
            <a:off x="3291840" y="2057400"/>
            <a:ext cx="2560320" cy="201168"/>
          </a:xfrm>
          <a:prstGeom prst="rect">
            <a:avLst/>
          </a:prstGeom>
          <a:noFill/>
          <a:ln/>
        </p:spPr>
        <p:txBody>
          <a:bodyPr wrap="square" lIns="0" tIns="0" rIns="0" bIns="0" rtlCol="0" anchor="t"/>
          <a:lstStyle/>
          <a:p>
            <a:pPr marL="0" indent="0" algn="ctr">
              <a:buNone/>
            </a:pPr>
            <a:r>
              <a:rPr lang="en-US" sz="900" b="1" kern="0" spc="200" dirty="0">
                <a:solidFill>
                  <a:schemeClr val="accent6"/>
                </a:solidFill>
              </a:rPr>
              <a:t>UNDERSTAND</a:t>
            </a:r>
            <a:endParaRPr lang="en-US" sz="900" dirty="0"/>
          </a:p>
        </p:txBody>
      </p:sp>
      <p:sp>
        <p:nvSpPr>
          <p:cNvPr id="12" name="Text 8"/>
          <p:cNvSpPr txBox="1"/>
          <p:nvPr/>
        </p:nvSpPr>
        <p:spPr>
          <a:xfrm>
            <a:off x="3291840" y="2286000"/>
            <a:ext cx="2560320" cy="292608"/>
          </a:xfrm>
          <a:prstGeom prst="rect">
            <a:avLst/>
          </a:prstGeom>
          <a:noFill/>
          <a:ln/>
        </p:spPr>
        <p:txBody>
          <a:bodyPr wrap="square" lIns="0" tIns="0" rIns="0" bIns="0" rtlCol="0" anchor="t"/>
          <a:lstStyle/>
          <a:p>
            <a:pPr marL="0" indent="0" algn="ctr">
              <a:buNone/>
            </a:pPr>
            <a:r>
              <a:rPr lang="en-US" sz="1500" b="1" dirty="0">
                <a:solidFill>
                  <a:schemeClr val="tx2"/>
                </a:solidFill>
                <a:latin typeface="+mj-lt" pitchFamily="34" charset="0"/>
                <a:ea typeface="+mj-lt" pitchFamily="34" charset="-122"/>
                <a:cs typeface="+mj-lt" pitchFamily="34" charset="-120"/>
              </a:rPr>
              <a:t>Digital Twin</a:t>
            </a:r>
            <a:endParaRPr lang="en-US" sz="1500" dirty="0"/>
          </a:p>
        </p:txBody>
      </p:sp>
      <p:sp>
        <p:nvSpPr>
          <p:cNvPr id="13" name="Text 9"/>
          <p:cNvSpPr txBox="1"/>
          <p:nvPr/>
        </p:nvSpPr>
        <p:spPr>
          <a:xfrm>
            <a:off x="3383280" y="2651760"/>
            <a:ext cx="2377440" cy="914400"/>
          </a:xfrm>
          <a:prstGeom prst="rect">
            <a:avLst/>
          </a:prstGeom>
          <a:noFill/>
          <a:ln/>
        </p:spPr>
        <p:txBody>
          <a:bodyPr wrap="square" lIns="0" tIns="0" rIns="0" bIns="0" rtlCol="0" anchor="t"/>
          <a:lstStyle/>
          <a:p>
            <a:pPr marL="0" indent="0" algn="ctr">
              <a:buNone/>
            </a:pPr>
            <a:r>
              <a:rPr lang="en-US" sz="1100" dirty="0">
                <a:solidFill>
                  <a:schemeClr val="accent6"/>
                </a:solidFill>
              </a:rPr>
              <a:t>2D map of 9 campus buildings with live-style telemetry: kW load, airflow (CFM), bin fill level, open tickets.</a:t>
            </a:r>
            <a:endParaRPr lang="en-US" sz="1100" dirty="0"/>
          </a:p>
        </p:txBody>
      </p:sp>
      <p:sp>
        <p:nvSpPr>
          <p:cNvPr id="14" name="Text 10"/>
          <p:cNvSpPr txBox="1"/>
          <p:nvPr/>
        </p:nvSpPr>
        <p:spPr>
          <a:xfrm>
            <a:off x="5852160" y="1188720"/>
            <a:ext cx="274320" cy="548640"/>
          </a:xfrm>
          <a:prstGeom prst="rect">
            <a:avLst/>
          </a:prstGeom>
          <a:noFill/>
          <a:ln/>
        </p:spPr>
        <p:txBody>
          <a:bodyPr wrap="square" lIns="0" tIns="0" rIns="0" bIns="0" rtlCol="0" anchor="ctr"/>
          <a:lstStyle/>
          <a:p>
            <a:pPr marL="0" indent="0" algn="ctr">
              <a:buNone/>
            </a:pPr>
            <a:r>
              <a:rPr lang="en-US" sz="2200" dirty="0">
                <a:solidFill>
                  <a:schemeClr val="accent6"/>
                </a:solidFill>
              </a:rPr>
              <a:t>→</a:t>
            </a:r>
            <a:endParaRPr lang="en-US" sz="2200" dirty="0"/>
          </a:p>
        </p:txBody>
      </p:sp>
      <p:sp>
        <p:nvSpPr>
          <p:cNvPr id="15" name="Loop Generative AI circle"/>
          <p:cNvSpPr/>
          <p:nvPr/>
        </p:nvSpPr>
        <p:spPr>
          <a:xfrm>
            <a:off x="6949440" y="1005840"/>
            <a:ext cx="914400" cy="914400"/>
          </a:xfrm>
          <a:prstGeom prst="ellipse">
            <a:avLst/>
          </a:prstGeom>
          <a:solidFill>
            <a:schemeClr val="accent2"/>
          </a:solidFill>
          <a:ln w="12700">
            <a:solidFill>
              <a:schemeClr val="accent2"/>
            </a:solidFill>
            <a:prstDash val="solid"/>
          </a:ln>
        </p:spPr>
      </p:sp>
      <p:pic>
        <p:nvPicPr>
          <p:cNvPr id="16" name="Loop Generative AI icon" descr="Loop Generative AI"/>
          <p:cNvPicPr>
            <a:picLocks noChangeAspect="1"/>
          </p:cNvPicPr>
          <p:nvPr/>
        </p:nvPicPr>
        <p:blipFill>
          <a:blip r:embed="rId5"/>
          <a:stretch>
            <a:fillRect/>
          </a:stretch>
        </p:blipFill>
        <p:spPr>
          <a:xfrm>
            <a:off x="7178040" y="1234440"/>
            <a:ext cx="457200" cy="457200"/>
          </a:xfrm>
          <a:prstGeom prst="rect">
            <a:avLst/>
          </a:prstGeom>
        </p:spPr>
      </p:pic>
      <p:sp>
        <p:nvSpPr>
          <p:cNvPr id="17" name="Text 12"/>
          <p:cNvSpPr txBox="1"/>
          <p:nvPr/>
        </p:nvSpPr>
        <p:spPr>
          <a:xfrm>
            <a:off x="6126480" y="2057400"/>
            <a:ext cx="2560320" cy="201168"/>
          </a:xfrm>
          <a:prstGeom prst="rect">
            <a:avLst/>
          </a:prstGeom>
          <a:noFill/>
          <a:ln/>
        </p:spPr>
        <p:txBody>
          <a:bodyPr wrap="square" lIns="0" tIns="0" rIns="0" bIns="0" rtlCol="0" anchor="t"/>
          <a:lstStyle/>
          <a:p>
            <a:pPr marL="0" indent="0" algn="ctr">
              <a:buNone/>
            </a:pPr>
            <a:r>
              <a:rPr lang="en-US" sz="900" b="1" kern="0" spc="200" dirty="0">
                <a:solidFill>
                  <a:schemeClr val="accent6"/>
                </a:solidFill>
              </a:rPr>
              <a:t>ACT</a:t>
            </a:r>
            <a:endParaRPr lang="en-US" sz="900" dirty="0"/>
          </a:p>
        </p:txBody>
      </p:sp>
      <p:sp>
        <p:nvSpPr>
          <p:cNvPr id="18" name="Text 13"/>
          <p:cNvSpPr txBox="1"/>
          <p:nvPr/>
        </p:nvSpPr>
        <p:spPr>
          <a:xfrm>
            <a:off x="6126480" y="2286000"/>
            <a:ext cx="2560320" cy="292608"/>
          </a:xfrm>
          <a:prstGeom prst="rect">
            <a:avLst/>
          </a:prstGeom>
          <a:noFill/>
          <a:ln/>
        </p:spPr>
        <p:txBody>
          <a:bodyPr wrap="square" lIns="0" tIns="0" rIns="0" bIns="0" rtlCol="0" anchor="t"/>
          <a:lstStyle/>
          <a:p>
            <a:pPr marL="0" indent="0" algn="ctr">
              <a:buNone/>
            </a:pPr>
            <a:r>
              <a:rPr lang="en-US" sz="1500" b="1" dirty="0">
                <a:solidFill>
                  <a:schemeClr val="tx2"/>
                </a:solidFill>
                <a:latin typeface="+mj-lt" pitchFamily="34" charset="0"/>
                <a:ea typeface="+mj-lt" pitchFamily="34" charset="-122"/>
                <a:cs typeface="+mj-lt" pitchFamily="34" charset="-120"/>
              </a:rPr>
              <a:t>Generative AI</a:t>
            </a:r>
            <a:endParaRPr lang="en-US" sz="1500" dirty="0"/>
          </a:p>
        </p:txBody>
      </p:sp>
      <p:sp>
        <p:nvSpPr>
          <p:cNvPr id="19" name="Text 14"/>
          <p:cNvSpPr txBox="1"/>
          <p:nvPr/>
        </p:nvSpPr>
        <p:spPr>
          <a:xfrm>
            <a:off x="6217920" y="2651760"/>
            <a:ext cx="2377440" cy="914400"/>
          </a:xfrm>
          <a:prstGeom prst="rect">
            <a:avLst/>
          </a:prstGeom>
          <a:noFill/>
          <a:ln/>
        </p:spPr>
        <p:txBody>
          <a:bodyPr wrap="square" lIns="0" tIns="0" rIns="0" bIns="0" rtlCol="0" anchor="t"/>
          <a:lstStyle/>
          <a:p>
            <a:pPr marL="0" indent="0" algn="ctr">
              <a:buNone/>
            </a:pPr>
            <a:r>
              <a:rPr lang="en-US" sz="1100" dirty="0">
                <a:solidFill>
                  <a:schemeClr val="accent6"/>
                </a:solidFill>
              </a:rPr>
              <a:t>Auto-routes to the right department, tracks technician proof and admin verification, models what-if savings, answers via Copilot.</a:t>
            </a:r>
            <a:endParaRPr lang="en-US" sz="1100" dirty="0"/>
          </a:p>
        </p:txBody>
      </p:sp>
      <p:sp>
        <p:nvSpPr>
          <p:cNvPr id="20" name="Outcome bar"/>
          <p:cNvSpPr/>
          <p:nvPr/>
        </p:nvSpPr>
        <p:spPr>
          <a:xfrm>
            <a:off x="457200" y="3886200"/>
            <a:ext cx="8229600" cy="731520"/>
          </a:xfrm>
          <a:prstGeom prst="roundRect">
            <a:avLst>
              <a:gd name="adj" fmla="val 10000"/>
            </a:avLst>
          </a:prstGeom>
          <a:solidFill>
            <a:schemeClr val="tx1"/>
          </a:solidFill>
          <a:ln/>
        </p:spPr>
      </p:sp>
      <p:sp>
        <p:nvSpPr>
          <p:cNvPr id="21" name="Text 16"/>
          <p:cNvSpPr txBox="1"/>
          <p:nvPr/>
        </p:nvSpPr>
        <p:spPr>
          <a:xfrm>
            <a:off x="685800" y="3886200"/>
            <a:ext cx="7772400" cy="731520"/>
          </a:xfrm>
          <a:prstGeom prst="rect">
            <a:avLst/>
          </a:prstGeom>
          <a:noFill/>
          <a:ln/>
        </p:spPr>
        <p:txBody>
          <a:bodyPr wrap="square" lIns="0" tIns="0" rIns="0" bIns="0" rtlCol="0" anchor="ctr"/>
          <a:lstStyle/>
          <a:p>
            <a:pPr marL="0" indent="0">
              <a:buNone/>
            </a:pPr>
            <a:r>
              <a:rPr lang="en-US" sz="1300" b="1" dirty="0">
                <a:solidFill>
                  <a:schemeClr val="accent2"/>
                </a:solidFill>
              </a:rPr>
              <a:t>The outcome: </a:t>
            </a:r>
            <a:r>
              <a:rPr lang="en-US" sz="1300" dirty="0">
                <a:solidFill>
                  <a:schemeClr val="bg1"/>
                </a:solidFill>
              </a:rPr>
              <a:t>every issue gets a category, an owner, photo proof of the repair, and an admin-verified close.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Six tracks, one platform</a:t>
            </a:r>
            <a:endParaRPr lang="en-US" sz="2600" dirty="0"/>
          </a:p>
        </p:txBody>
      </p:sp>
      <p:sp>
        <p:nvSpPr>
          <p:cNvPr id="3" name="Track card 01"/>
          <p:cNvSpPr/>
          <p:nvPr/>
        </p:nvSpPr>
        <p:spPr>
          <a:xfrm>
            <a:off x="457200" y="960120"/>
            <a:ext cx="2560320" cy="1463040"/>
          </a:xfrm>
          <a:prstGeom prst="roundRect">
            <a:avLst>
              <a:gd name="adj" fmla="val 5000"/>
            </a:avLst>
          </a:prstGeom>
          <a:solidFill>
            <a:schemeClr val="bg1"/>
          </a:solidFill>
          <a:ln/>
          <a:effectLst>
            <a:outerShdw blurRad="76200" dist="25400" dir="5400000" algn="bl" rotWithShape="0">
              <a:srgbClr val="0A1F1C">
                <a:alpha val="12000"/>
              </a:srgbClr>
            </a:outerShdw>
          </a:effectLst>
        </p:spPr>
      </p:sp>
      <p:sp>
        <p:nvSpPr>
          <p:cNvPr id="4" name="Track 01 circle"/>
          <p:cNvSpPr/>
          <p:nvPr/>
        </p:nvSpPr>
        <p:spPr>
          <a:xfrm>
            <a:off x="621792" y="1124712"/>
            <a:ext cx="420624" cy="420624"/>
          </a:xfrm>
          <a:prstGeom prst="ellipse">
            <a:avLst/>
          </a:prstGeom>
          <a:solidFill>
            <a:schemeClr val="accent1"/>
          </a:solidFill>
          <a:ln w="12700">
            <a:solidFill>
              <a:schemeClr val="accent1"/>
            </a:solidFill>
            <a:prstDash val="solid"/>
          </a:ln>
        </p:spPr>
      </p:sp>
      <p:pic>
        <p:nvPicPr>
          <p:cNvPr id="5" name="Track 01 icon" descr="Track 01"/>
          <p:cNvPicPr>
            <a:picLocks noChangeAspect="1"/>
          </p:cNvPicPr>
          <p:nvPr/>
        </p:nvPicPr>
        <p:blipFill>
          <a:blip r:embed="rId3"/>
          <a:stretch>
            <a:fillRect/>
          </a:stretch>
        </p:blipFill>
        <p:spPr>
          <a:xfrm>
            <a:off x="726948" y="1229868"/>
            <a:ext cx="210312" cy="210312"/>
          </a:xfrm>
          <a:prstGeom prst="rect">
            <a:avLst/>
          </a:prstGeom>
        </p:spPr>
      </p:pic>
      <p:sp>
        <p:nvSpPr>
          <p:cNvPr id="6" name="Text 3"/>
          <p:cNvSpPr txBox="1"/>
          <p:nvPr/>
        </p:nvSpPr>
        <p:spPr>
          <a:xfrm>
            <a:off x="2194560" y="1097280"/>
            <a:ext cx="640080" cy="41148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01</a:t>
            </a:r>
            <a:endParaRPr lang="en-US" sz="2200" dirty="0"/>
          </a:p>
        </p:txBody>
      </p:sp>
      <p:sp>
        <p:nvSpPr>
          <p:cNvPr id="7" name="Text 4"/>
          <p:cNvSpPr txBox="1"/>
          <p:nvPr/>
        </p:nvSpPr>
        <p:spPr>
          <a:xfrm>
            <a:off x="621792" y="1673352"/>
            <a:ext cx="2240280" cy="256032"/>
          </a:xfrm>
          <a:prstGeom prst="rect">
            <a:avLst/>
          </a:prstGeom>
          <a:noFill/>
          <a:ln/>
        </p:spPr>
        <p:txBody>
          <a:bodyPr wrap="square" lIns="0" tIns="0" rIns="0" bIns="0" rtlCol="0" anchor="t"/>
          <a:lstStyle/>
          <a:p>
            <a:pPr marL="0" indent="0">
              <a:buNone/>
            </a:pPr>
            <a:r>
              <a:rPr lang="en-US" sz="1200" b="1" dirty="0">
                <a:solidFill>
                  <a:schemeClr val="tx2"/>
                </a:solidFill>
              </a:rPr>
              <a:t>Smart Waste Digital Twin</a:t>
            </a:r>
            <a:endParaRPr lang="en-US" sz="1200" dirty="0"/>
          </a:p>
        </p:txBody>
      </p:sp>
      <p:sp>
        <p:nvSpPr>
          <p:cNvPr id="8" name="Text 5"/>
          <p:cNvSpPr txBox="1"/>
          <p:nvPr/>
        </p:nvSpPr>
        <p:spPr>
          <a:xfrm>
            <a:off x="621792" y="1929384"/>
            <a:ext cx="2240280" cy="438912"/>
          </a:xfrm>
          <a:prstGeom prst="rect">
            <a:avLst/>
          </a:prstGeom>
          <a:noFill/>
          <a:ln/>
        </p:spPr>
        <p:txBody>
          <a:bodyPr wrap="square" lIns="0" tIns="0" rIns="0" bIns="0" rtlCol="0" anchor="t"/>
          <a:lstStyle/>
          <a:p>
            <a:pPr marL="0" indent="0">
              <a:buNone/>
            </a:pPr>
            <a:r>
              <a:rPr lang="en-US" sz="1000" dirty="0">
                <a:solidFill>
                  <a:schemeClr val="accent6"/>
                </a:solidFill>
              </a:rPr>
              <a:t>Bin fill sensing, 2D bin map, dynamic dispatch for bins over 80%.</a:t>
            </a:r>
            <a:endParaRPr lang="en-US" sz="1000" dirty="0"/>
          </a:p>
        </p:txBody>
      </p:sp>
      <p:sp>
        <p:nvSpPr>
          <p:cNvPr id="9" name="Track card 02"/>
          <p:cNvSpPr/>
          <p:nvPr/>
        </p:nvSpPr>
        <p:spPr>
          <a:xfrm>
            <a:off x="3291840" y="960120"/>
            <a:ext cx="2560320" cy="1463040"/>
          </a:xfrm>
          <a:prstGeom prst="roundRect">
            <a:avLst>
              <a:gd name="adj" fmla="val 5000"/>
            </a:avLst>
          </a:prstGeom>
          <a:solidFill>
            <a:schemeClr val="tx1"/>
          </a:solidFill>
          <a:ln/>
          <a:effectLst>
            <a:outerShdw blurRad="76200" dist="25400" dir="5400000" algn="bl" rotWithShape="0">
              <a:srgbClr val="0A1F1C">
                <a:alpha val="12000"/>
              </a:srgbClr>
            </a:outerShdw>
          </a:effectLst>
        </p:spPr>
      </p:sp>
      <p:sp>
        <p:nvSpPr>
          <p:cNvPr id="10" name="Track 02 circle"/>
          <p:cNvSpPr/>
          <p:nvPr/>
        </p:nvSpPr>
        <p:spPr>
          <a:xfrm>
            <a:off x="3456432" y="1124712"/>
            <a:ext cx="420624" cy="420624"/>
          </a:xfrm>
          <a:prstGeom prst="ellipse">
            <a:avLst/>
          </a:prstGeom>
          <a:solidFill>
            <a:schemeClr val="accent2"/>
          </a:solidFill>
          <a:ln w="12700">
            <a:solidFill>
              <a:schemeClr val="accent2"/>
            </a:solidFill>
            <a:prstDash val="solid"/>
          </a:ln>
        </p:spPr>
      </p:sp>
      <p:pic>
        <p:nvPicPr>
          <p:cNvPr id="11" name="Track 02 icon" descr="Track 02"/>
          <p:cNvPicPr>
            <a:picLocks noChangeAspect="1"/>
          </p:cNvPicPr>
          <p:nvPr/>
        </p:nvPicPr>
        <p:blipFill>
          <a:blip r:embed="rId4"/>
          <a:stretch>
            <a:fillRect/>
          </a:stretch>
        </p:blipFill>
        <p:spPr>
          <a:xfrm>
            <a:off x="3561588" y="1229868"/>
            <a:ext cx="210312" cy="210312"/>
          </a:xfrm>
          <a:prstGeom prst="rect">
            <a:avLst/>
          </a:prstGeom>
        </p:spPr>
      </p:pic>
      <p:sp>
        <p:nvSpPr>
          <p:cNvPr id="12" name="Text 8"/>
          <p:cNvSpPr txBox="1"/>
          <p:nvPr/>
        </p:nvSpPr>
        <p:spPr>
          <a:xfrm>
            <a:off x="5029200" y="1097280"/>
            <a:ext cx="640080" cy="411480"/>
          </a:xfrm>
          <a:prstGeom prst="rect">
            <a:avLst/>
          </a:prstGeom>
          <a:noFill/>
          <a:ln/>
        </p:spPr>
        <p:txBody>
          <a:bodyPr wrap="square" lIns="0" tIns="0" rIns="0" bIns="0" rtlCol="0" anchor="ctr"/>
          <a:lstStyle/>
          <a:p>
            <a:pPr marL="0" indent="0" algn="r">
              <a:buNone/>
            </a:pPr>
            <a:r>
              <a:rPr lang="en-US" sz="2200" b="1" dirty="0">
                <a:solidFill>
                  <a:schemeClr val="accent2">
                    <a:alpha val="65000"/>
                  </a:schemeClr>
                </a:solidFill>
                <a:latin typeface="+mj-lt" pitchFamily="34" charset="0"/>
                <a:ea typeface="+mj-lt" pitchFamily="34" charset="-122"/>
                <a:cs typeface="+mj-lt" pitchFamily="34" charset="-120"/>
              </a:rPr>
              <a:t>02</a:t>
            </a:r>
            <a:endParaRPr lang="en-US" sz="2200" dirty="0"/>
          </a:p>
        </p:txBody>
      </p:sp>
      <p:sp>
        <p:nvSpPr>
          <p:cNvPr id="13" name="Text 9"/>
          <p:cNvSpPr txBox="1"/>
          <p:nvPr/>
        </p:nvSpPr>
        <p:spPr>
          <a:xfrm>
            <a:off x="3456432" y="1673352"/>
            <a:ext cx="2240280" cy="256032"/>
          </a:xfrm>
          <a:prstGeom prst="rect">
            <a:avLst/>
          </a:prstGeom>
          <a:noFill/>
          <a:ln/>
        </p:spPr>
        <p:txBody>
          <a:bodyPr wrap="square" lIns="0" tIns="0" rIns="0" bIns="0" rtlCol="0" anchor="t"/>
          <a:lstStyle/>
          <a:p>
            <a:pPr marL="0" indent="0">
              <a:buNone/>
            </a:pPr>
            <a:r>
              <a:rPr lang="en-US" sz="1200" b="1" dirty="0">
                <a:solidFill>
                  <a:schemeClr val="bg1"/>
                </a:solidFill>
              </a:rPr>
              <a:t>AI Sustainable Campus</a:t>
            </a:r>
            <a:endParaRPr lang="en-US" sz="1200" dirty="0"/>
          </a:p>
        </p:txBody>
      </p:sp>
      <p:sp>
        <p:nvSpPr>
          <p:cNvPr id="14" name="Text 10"/>
          <p:cNvSpPr txBox="1"/>
          <p:nvPr/>
        </p:nvSpPr>
        <p:spPr>
          <a:xfrm>
            <a:off x="3456432" y="1929384"/>
            <a:ext cx="2240280" cy="438912"/>
          </a:xfrm>
          <a:prstGeom prst="rect">
            <a:avLst/>
          </a:prstGeom>
          <a:noFill/>
          <a:ln/>
        </p:spPr>
        <p:txBody>
          <a:bodyPr wrap="square" lIns="0" tIns="0" rIns="0" bIns="0" rtlCol="0" anchor="t"/>
          <a:lstStyle/>
          <a:p>
            <a:pPr marL="0" indent="0">
              <a:buNone/>
            </a:pPr>
            <a:r>
              <a:rPr lang="en-US" sz="1000" dirty="0">
                <a:solidFill>
                  <a:schemeClr val="accent5"/>
                </a:solidFill>
              </a:rPr>
              <a:t>Flagship: student, technician and admin lifecycle with CV, routing and photo proof.</a:t>
            </a:r>
            <a:endParaRPr lang="en-US" sz="1000" dirty="0"/>
          </a:p>
        </p:txBody>
      </p:sp>
      <p:sp>
        <p:nvSpPr>
          <p:cNvPr id="15" name="Track card 03"/>
          <p:cNvSpPr/>
          <p:nvPr/>
        </p:nvSpPr>
        <p:spPr>
          <a:xfrm>
            <a:off x="6126480" y="960120"/>
            <a:ext cx="2560320" cy="1463040"/>
          </a:xfrm>
          <a:prstGeom prst="roundRect">
            <a:avLst>
              <a:gd name="adj" fmla="val 5000"/>
            </a:avLst>
          </a:prstGeom>
          <a:solidFill>
            <a:schemeClr val="bg1"/>
          </a:solidFill>
          <a:ln/>
          <a:effectLst>
            <a:outerShdw blurRad="76200" dist="25400" dir="5400000" algn="bl" rotWithShape="0">
              <a:srgbClr val="0A1F1C">
                <a:alpha val="12000"/>
              </a:srgbClr>
            </a:outerShdw>
          </a:effectLst>
        </p:spPr>
      </p:sp>
      <p:sp>
        <p:nvSpPr>
          <p:cNvPr id="16" name="Track 03 circle"/>
          <p:cNvSpPr/>
          <p:nvPr/>
        </p:nvSpPr>
        <p:spPr>
          <a:xfrm>
            <a:off x="6291072" y="1124712"/>
            <a:ext cx="420624" cy="420624"/>
          </a:xfrm>
          <a:prstGeom prst="ellipse">
            <a:avLst/>
          </a:prstGeom>
          <a:solidFill>
            <a:schemeClr val="accent1"/>
          </a:solidFill>
          <a:ln w="12700">
            <a:solidFill>
              <a:schemeClr val="accent1"/>
            </a:solidFill>
            <a:prstDash val="solid"/>
          </a:ln>
        </p:spPr>
      </p:sp>
      <p:pic>
        <p:nvPicPr>
          <p:cNvPr id="17" name="Track 03 icon" descr="Track 03"/>
          <p:cNvPicPr>
            <a:picLocks noChangeAspect="1"/>
          </p:cNvPicPr>
          <p:nvPr/>
        </p:nvPicPr>
        <p:blipFill>
          <a:blip r:embed="rId5"/>
          <a:stretch>
            <a:fillRect/>
          </a:stretch>
        </p:blipFill>
        <p:spPr>
          <a:xfrm>
            <a:off x="6396228" y="1229868"/>
            <a:ext cx="210312" cy="210312"/>
          </a:xfrm>
          <a:prstGeom prst="rect">
            <a:avLst/>
          </a:prstGeom>
        </p:spPr>
      </p:pic>
      <p:sp>
        <p:nvSpPr>
          <p:cNvPr id="18" name="Text 13"/>
          <p:cNvSpPr txBox="1"/>
          <p:nvPr/>
        </p:nvSpPr>
        <p:spPr>
          <a:xfrm>
            <a:off x="7863840" y="1097280"/>
            <a:ext cx="640080" cy="41148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03</a:t>
            </a:r>
            <a:endParaRPr lang="en-US" sz="2200" dirty="0"/>
          </a:p>
        </p:txBody>
      </p:sp>
      <p:sp>
        <p:nvSpPr>
          <p:cNvPr id="19" name="Text 14"/>
          <p:cNvSpPr txBox="1"/>
          <p:nvPr/>
        </p:nvSpPr>
        <p:spPr>
          <a:xfrm>
            <a:off x="6291072" y="1673352"/>
            <a:ext cx="2240280" cy="256032"/>
          </a:xfrm>
          <a:prstGeom prst="rect">
            <a:avLst/>
          </a:prstGeom>
          <a:noFill/>
          <a:ln/>
        </p:spPr>
        <p:txBody>
          <a:bodyPr wrap="square" lIns="0" tIns="0" rIns="0" bIns="0" rtlCol="0" anchor="t"/>
          <a:lstStyle/>
          <a:p>
            <a:pPr marL="0" indent="0">
              <a:buNone/>
            </a:pPr>
            <a:r>
              <a:rPr lang="en-US" sz="1200" b="1" dirty="0">
                <a:solidFill>
                  <a:schemeClr val="tx2"/>
                </a:solidFill>
              </a:rPr>
              <a:t>Energy Optimization</a:t>
            </a:r>
            <a:endParaRPr lang="en-US" sz="1200" dirty="0"/>
          </a:p>
        </p:txBody>
      </p:sp>
      <p:sp>
        <p:nvSpPr>
          <p:cNvPr id="20" name="Text 15"/>
          <p:cNvSpPr txBox="1"/>
          <p:nvPr/>
        </p:nvSpPr>
        <p:spPr>
          <a:xfrm>
            <a:off x="6291072" y="1929384"/>
            <a:ext cx="2240280" cy="438912"/>
          </a:xfrm>
          <a:prstGeom prst="rect">
            <a:avLst/>
          </a:prstGeom>
          <a:noFill/>
          <a:ln/>
        </p:spPr>
        <p:txBody>
          <a:bodyPr wrap="square" lIns="0" tIns="0" rIns="0" bIns="0" rtlCol="0" anchor="t"/>
          <a:lstStyle/>
          <a:p>
            <a:pPr marL="0" indent="0">
              <a:buNone/>
            </a:pPr>
            <a:r>
              <a:rPr lang="en-US" sz="1000" dirty="0">
                <a:solidFill>
                  <a:schemeClr val="accent6"/>
                </a:solidFill>
              </a:rPr>
              <a:t>Load curves, vacancy lighting audit, what-if savings.</a:t>
            </a:r>
            <a:endParaRPr lang="en-US" sz="1000" dirty="0"/>
          </a:p>
        </p:txBody>
      </p:sp>
      <p:sp>
        <p:nvSpPr>
          <p:cNvPr id="21" name="Track card 04"/>
          <p:cNvSpPr/>
          <p:nvPr/>
        </p:nvSpPr>
        <p:spPr>
          <a:xfrm>
            <a:off x="457200" y="2606040"/>
            <a:ext cx="2560320" cy="1463040"/>
          </a:xfrm>
          <a:prstGeom prst="roundRect">
            <a:avLst>
              <a:gd name="adj" fmla="val 5000"/>
            </a:avLst>
          </a:prstGeom>
          <a:solidFill>
            <a:schemeClr val="bg1"/>
          </a:solidFill>
          <a:ln/>
          <a:effectLst>
            <a:outerShdw blurRad="76200" dist="25400" dir="5400000" algn="bl" rotWithShape="0">
              <a:srgbClr val="0A1F1C">
                <a:alpha val="12000"/>
              </a:srgbClr>
            </a:outerShdw>
          </a:effectLst>
        </p:spPr>
      </p:sp>
      <p:sp>
        <p:nvSpPr>
          <p:cNvPr id="22" name="Track 04 circle"/>
          <p:cNvSpPr/>
          <p:nvPr/>
        </p:nvSpPr>
        <p:spPr>
          <a:xfrm>
            <a:off x="621792" y="2770632"/>
            <a:ext cx="420624" cy="420624"/>
          </a:xfrm>
          <a:prstGeom prst="ellipse">
            <a:avLst/>
          </a:prstGeom>
          <a:solidFill>
            <a:schemeClr val="accent1"/>
          </a:solidFill>
          <a:ln w="12700">
            <a:solidFill>
              <a:schemeClr val="accent1"/>
            </a:solidFill>
            <a:prstDash val="solid"/>
          </a:ln>
        </p:spPr>
      </p:sp>
      <p:pic>
        <p:nvPicPr>
          <p:cNvPr id="23" name="Track 04 icon" descr="Track 04"/>
          <p:cNvPicPr>
            <a:picLocks noChangeAspect="1"/>
          </p:cNvPicPr>
          <p:nvPr/>
        </p:nvPicPr>
        <p:blipFill>
          <a:blip r:embed="rId6"/>
          <a:stretch>
            <a:fillRect/>
          </a:stretch>
        </p:blipFill>
        <p:spPr>
          <a:xfrm>
            <a:off x="726948" y="2875788"/>
            <a:ext cx="210312" cy="210312"/>
          </a:xfrm>
          <a:prstGeom prst="rect">
            <a:avLst/>
          </a:prstGeom>
        </p:spPr>
      </p:pic>
      <p:sp>
        <p:nvSpPr>
          <p:cNvPr id="24" name="Text 18"/>
          <p:cNvSpPr txBox="1"/>
          <p:nvPr/>
        </p:nvSpPr>
        <p:spPr>
          <a:xfrm>
            <a:off x="2194560" y="2743200"/>
            <a:ext cx="640080" cy="41148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04</a:t>
            </a:r>
            <a:endParaRPr lang="en-US" sz="2200" dirty="0"/>
          </a:p>
        </p:txBody>
      </p:sp>
      <p:sp>
        <p:nvSpPr>
          <p:cNvPr id="25" name="Text 19"/>
          <p:cNvSpPr txBox="1"/>
          <p:nvPr/>
        </p:nvSpPr>
        <p:spPr>
          <a:xfrm>
            <a:off x="621792" y="3319272"/>
            <a:ext cx="2240280" cy="256032"/>
          </a:xfrm>
          <a:prstGeom prst="rect">
            <a:avLst/>
          </a:prstGeom>
          <a:noFill/>
          <a:ln/>
        </p:spPr>
        <p:txBody>
          <a:bodyPr wrap="square" lIns="0" tIns="0" rIns="0" bIns="0" rtlCol="0" anchor="t"/>
          <a:lstStyle/>
          <a:p>
            <a:pPr marL="0" indent="0">
              <a:buNone/>
            </a:pPr>
            <a:r>
              <a:rPr lang="en-US" sz="1200" b="1" dirty="0">
                <a:solidFill>
                  <a:schemeClr val="tx2"/>
                </a:solidFill>
              </a:rPr>
              <a:t>Green Building Digital Twin</a:t>
            </a:r>
            <a:endParaRPr lang="en-US" sz="1200" dirty="0"/>
          </a:p>
        </p:txBody>
      </p:sp>
      <p:sp>
        <p:nvSpPr>
          <p:cNvPr id="26" name="Text 20"/>
          <p:cNvSpPr txBox="1"/>
          <p:nvPr/>
        </p:nvSpPr>
        <p:spPr>
          <a:xfrm>
            <a:off x="621792" y="3575304"/>
            <a:ext cx="2240280" cy="438912"/>
          </a:xfrm>
          <a:prstGeom prst="rect">
            <a:avLst/>
          </a:prstGeom>
          <a:noFill/>
          <a:ln/>
        </p:spPr>
        <p:txBody>
          <a:bodyPr wrap="square" lIns="0" tIns="0" rIns="0" bIns="0" rtlCol="0" anchor="t"/>
          <a:lstStyle/>
          <a:p>
            <a:pPr marL="0" indent="0">
              <a:buNone/>
            </a:pPr>
            <a:r>
              <a:rPr lang="en-US" sz="1000" dirty="0">
                <a:solidFill>
                  <a:schemeClr val="accent6"/>
                </a:solidFill>
              </a:rPr>
              <a:t>Room floorplans, airflow balanced to headcount.</a:t>
            </a:r>
            <a:endParaRPr lang="en-US" sz="1000" dirty="0"/>
          </a:p>
        </p:txBody>
      </p:sp>
      <p:sp>
        <p:nvSpPr>
          <p:cNvPr id="27" name="Track card 05"/>
          <p:cNvSpPr/>
          <p:nvPr/>
        </p:nvSpPr>
        <p:spPr>
          <a:xfrm>
            <a:off x="3291840" y="2606040"/>
            <a:ext cx="2560320" cy="1463040"/>
          </a:xfrm>
          <a:prstGeom prst="roundRect">
            <a:avLst>
              <a:gd name="adj" fmla="val 5000"/>
            </a:avLst>
          </a:prstGeom>
          <a:solidFill>
            <a:schemeClr val="bg1"/>
          </a:solidFill>
          <a:ln/>
          <a:effectLst>
            <a:outerShdw blurRad="76200" dist="25400" dir="5400000" algn="bl" rotWithShape="0">
              <a:srgbClr val="0A1F1C">
                <a:alpha val="12000"/>
              </a:srgbClr>
            </a:outerShdw>
          </a:effectLst>
        </p:spPr>
      </p:sp>
      <p:sp>
        <p:nvSpPr>
          <p:cNvPr id="28" name="Track 05 circle"/>
          <p:cNvSpPr/>
          <p:nvPr/>
        </p:nvSpPr>
        <p:spPr>
          <a:xfrm>
            <a:off x="3456432" y="2770632"/>
            <a:ext cx="420624" cy="420624"/>
          </a:xfrm>
          <a:prstGeom prst="ellipse">
            <a:avLst/>
          </a:prstGeom>
          <a:solidFill>
            <a:schemeClr val="accent1"/>
          </a:solidFill>
          <a:ln w="12700">
            <a:solidFill>
              <a:schemeClr val="accent1"/>
            </a:solidFill>
            <a:prstDash val="solid"/>
          </a:ln>
        </p:spPr>
      </p:sp>
      <p:pic>
        <p:nvPicPr>
          <p:cNvPr id="29" name="Track 05 icon" descr="Track 05"/>
          <p:cNvPicPr>
            <a:picLocks noChangeAspect="1"/>
          </p:cNvPicPr>
          <p:nvPr/>
        </p:nvPicPr>
        <p:blipFill>
          <a:blip r:embed="rId7"/>
          <a:stretch>
            <a:fillRect/>
          </a:stretch>
        </p:blipFill>
        <p:spPr>
          <a:xfrm>
            <a:off x="3561588" y="2875788"/>
            <a:ext cx="210312" cy="210312"/>
          </a:xfrm>
          <a:prstGeom prst="rect">
            <a:avLst/>
          </a:prstGeom>
        </p:spPr>
      </p:pic>
      <p:sp>
        <p:nvSpPr>
          <p:cNvPr id="30" name="Text 23"/>
          <p:cNvSpPr txBox="1"/>
          <p:nvPr/>
        </p:nvSpPr>
        <p:spPr>
          <a:xfrm>
            <a:off x="5029200" y="2743200"/>
            <a:ext cx="640080" cy="41148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05</a:t>
            </a:r>
            <a:endParaRPr lang="en-US" sz="2200" dirty="0"/>
          </a:p>
        </p:txBody>
      </p:sp>
      <p:sp>
        <p:nvSpPr>
          <p:cNvPr id="31" name="Text 24"/>
          <p:cNvSpPr txBox="1"/>
          <p:nvPr/>
        </p:nvSpPr>
        <p:spPr>
          <a:xfrm>
            <a:off x="3456432" y="3319272"/>
            <a:ext cx="2240280" cy="256032"/>
          </a:xfrm>
          <a:prstGeom prst="rect">
            <a:avLst/>
          </a:prstGeom>
          <a:noFill/>
          <a:ln/>
        </p:spPr>
        <p:txBody>
          <a:bodyPr wrap="square" lIns="0" tIns="0" rIns="0" bIns="0" rtlCol="0" anchor="t"/>
          <a:lstStyle/>
          <a:p>
            <a:pPr marL="0" indent="0">
              <a:buNone/>
            </a:pPr>
            <a:r>
              <a:rPr lang="en-US" sz="1200" b="1" dirty="0">
                <a:solidFill>
                  <a:schemeClr val="tx2"/>
                </a:solidFill>
              </a:rPr>
              <a:t>Carbon Footprint Intelligence</a:t>
            </a:r>
            <a:endParaRPr lang="en-US" sz="1200" dirty="0"/>
          </a:p>
        </p:txBody>
      </p:sp>
      <p:sp>
        <p:nvSpPr>
          <p:cNvPr id="32" name="Text 25"/>
          <p:cNvSpPr txBox="1"/>
          <p:nvPr/>
        </p:nvSpPr>
        <p:spPr>
          <a:xfrm>
            <a:off x="3456432" y="3575304"/>
            <a:ext cx="2240280" cy="438912"/>
          </a:xfrm>
          <a:prstGeom prst="rect">
            <a:avLst/>
          </a:prstGeom>
          <a:noFill/>
          <a:ln/>
        </p:spPr>
        <p:txBody>
          <a:bodyPr wrap="square" lIns="0" tIns="0" rIns="0" bIns="0" rtlCol="0" anchor="t"/>
          <a:lstStyle/>
          <a:p>
            <a:pPr marL="0" indent="0">
              <a:buNone/>
            </a:pPr>
            <a:r>
              <a:rPr lang="en-US" sz="1000" dirty="0">
                <a:solidFill>
                  <a:schemeClr val="accent6"/>
                </a:solidFill>
              </a:rPr>
              <a:t>Scope 1/2/3 accounting, documented factors, net-zero paths.</a:t>
            </a:r>
            <a:endParaRPr lang="en-US" sz="1000" dirty="0"/>
          </a:p>
        </p:txBody>
      </p:sp>
      <p:sp>
        <p:nvSpPr>
          <p:cNvPr id="33" name="Track card 06"/>
          <p:cNvSpPr/>
          <p:nvPr/>
        </p:nvSpPr>
        <p:spPr>
          <a:xfrm>
            <a:off x="6126480" y="2606040"/>
            <a:ext cx="2560320" cy="1463040"/>
          </a:xfrm>
          <a:prstGeom prst="roundRect">
            <a:avLst>
              <a:gd name="adj" fmla="val 5000"/>
            </a:avLst>
          </a:prstGeom>
          <a:solidFill>
            <a:schemeClr val="bg1"/>
          </a:solidFill>
          <a:ln/>
          <a:effectLst>
            <a:outerShdw blurRad="76200" dist="25400" dir="5400000" algn="bl" rotWithShape="0">
              <a:srgbClr val="0A1F1C">
                <a:alpha val="12000"/>
              </a:srgbClr>
            </a:outerShdw>
          </a:effectLst>
        </p:spPr>
      </p:sp>
      <p:sp>
        <p:nvSpPr>
          <p:cNvPr id="34" name="Track 06 circle"/>
          <p:cNvSpPr/>
          <p:nvPr/>
        </p:nvSpPr>
        <p:spPr>
          <a:xfrm>
            <a:off x="6291072" y="2770632"/>
            <a:ext cx="420624" cy="420624"/>
          </a:xfrm>
          <a:prstGeom prst="ellipse">
            <a:avLst/>
          </a:prstGeom>
          <a:solidFill>
            <a:schemeClr val="accent1"/>
          </a:solidFill>
          <a:ln w="12700">
            <a:solidFill>
              <a:schemeClr val="accent1"/>
            </a:solidFill>
            <a:prstDash val="solid"/>
          </a:ln>
        </p:spPr>
      </p:sp>
      <p:pic>
        <p:nvPicPr>
          <p:cNvPr id="35" name="Track 06 icon" descr="Track 06"/>
          <p:cNvPicPr>
            <a:picLocks noChangeAspect="1"/>
          </p:cNvPicPr>
          <p:nvPr/>
        </p:nvPicPr>
        <p:blipFill>
          <a:blip r:embed="rId8"/>
          <a:stretch>
            <a:fillRect/>
          </a:stretch>
        </p:blipFill>
        <p:spPr>
          <a:xfrm>
            <a:off x="6396228" y="2875788"/>
            <a:ext cx="210312" cy="210312"/>
          </a:xfrm>
          <a:prstGeom prst="rect">
            <a:avLst/>
          </a:prstGeom>
        </p:spPr>
      </p:pic>
      <p:sp>
        <p:nvSpPr>
          <p:cNvPr id="36" name="Text 28"/>
          <p:cNvSpPr txBox="1"/>
          <p:nvPr/>
        </p:nvSpPr>
        <p:spPr>
          <a:xfrm>
            <a:off x="7863840" y="2743200"/>
            <a:ext cx="640080" cy="41148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06</a:t>
            </a:r>
            <a:endParaRPr lang="en-US" sz="2200" dirty="0"/>
          </a:p>
        </p:txBody>
      </p:sp>
      <p:sp>
        <p:nvSpPr>
          <p:cNvPr id="37" name="Text 29"/>
          <p:cNvSpPr txBox="1"/>
          <p:nvPr/>
        </p:nvSpPr>
        <p:spPr>
          <a:xfrm>
            <a:off x="6291072" y="3319272"/>
            <a:ext cx="2240280" cy="256032"/>
          </a:xfrm>
          <a:prstGeom prst="rect">
            <a:avLst/>
          </a:prstGeom>
          <a:noFill/>
          <a:ln/>
        </p:spPr>
        <p:txBody>
          <a:bodyPr wrap="square" lIns="0" tIns="0" rIns="0" bIns="0" rtlCol="0" anchor="t"/>
          <a:lstStyle/>
          <a:p>
            <a:pPr marL="0" indent="0">
              <a:buNone/>
            </a:pPr>
            <a:r>
              <a:rPr lang="en-US" sz="1200" b="1" dirty="0">
                <a:solidFill>
                  <a:schemeClr val="tx2"/>
                </a:solidFill>
              </a:rPr>
              <a:t>Smart Recycling Assistant</a:t>
            </a:r>
            <a:endParaRPr lang="en-US" sz="1200" dirty="0"/>
          </a:p>
        </p:txBody>
      </p:sp>
      <p:sp>
        <p:nvSpPr>
          <p:cNvPr id="38" name="Text 30"/>
          <p:cNvSpPr txBox="1"/>
          <p:nvPr/>
        </p:nvSpPr>
        <p:spPr>
          <a:xfrm>
            <a:off x="6291072" y="3575304"/>
            <a:ext cx="2240280" cy="438912"/>
          </a:xfrm>
          <a:prstGeom prst="rect">
            <a:avLst/>
          </a:prstGeom>
          <a:noFill/>
          <a:ln/>
        </p:spPr>
        <p:txBody>
          <a:bodyPr wrap="square" lIns="0" tIns="0" rIns="0" bIns="0" rtlCol="0" anchor="t"/>
          <a:lstStyle/>
          <a:p>
            <a:pPr marL="0" indent="0">
              <a:buNone/>
            </a:pPr>
            <a:r>
              <a:rPr lang="en-US" sz="1000" dirty="0">
                <a:solidFill>
                  <a:schemeClr val="accent6"/>
                </a:solidFill>
              </a:rPr>
              <a:t>Material classifier, cleaning guides, hazardous-battery warnings.</a:t>
            </a:r>
            <a:endParaRPr lang="en-US" sz="1000" dirty="0"/>
          </a:p>
        </p:txBody>
      </p:sp>
      <p:sp>
        <p:nvSpPr>
          <p:cNvPr id="39" name="Text 31"/>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100" i="1" dirty="0">
                <a:solidFill>
                  <a:schemeClr val="accent6"/>
                </a:solidFill>
              </a:rPr>
              <a:t>Shared engine: one report model, one routing layer, one digital twin, one Copilot, one cloud data store.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The flagship: report to verified fix</a:t>
            </a:r>
            <a:endParaRPr lang="en-US" sz="2600" dirty="0"/>
          </a:p>
        </p:txBody>
      </p:sp>
      <p:sp>
        <p:nvSpPr>
          <p:cNvPr id="3" name="Step 1"/>
          <p:cNvSpPr/>
          <p:nvPr/>
        </p:nvSpPr>
        <p:spPr>
          <a:xfrm>
            <a:off x="457200" y="914400"/>
            <a:ext cx="1112955" cy="566928"/>
          </a:xfrm>
          <a:prstGeom prst="roundRect">
            <a:avLst>
              <a:gd name="adj" fmla="val 9677"/>
            </a:avLst>
          </a:prstGeom>
          <a:solidFill>
            <a:schemeClr val="accent5"/>
          </a:solidFill>
          <a:ln/>
        </p:spPr>
      </p:sp>
      <p:sp>
        <p:nvSpPr>
          <p:cNvPr id="4" name="Text 2"/>
          <p:cNvSpPr txBox="1"/>
          <p:nvPr/>
        </p:nvSpPr>
        <p:spPr>
          <a:xfrm>
            <a:off x="493776" y="914400"/>
            <a:ext cx="1039803" cy="566928"/>
          </a:xfrm>
          <a:prstGeom prst="rect">
            <a:avLst/>
          </a:prstGeom>
          <a:noFill/>
          <a:ln/>
        </p:spPr>
        <p:txBody>
          <a:bodyPr wrap="square" lIns="0" tIns="0" rIns="0" bIns="0" rtlCol="0" anchor="ctr"/>
          <a:lstStyle/>
          <a:p>
            <a:pPr marL="0" indent="0" algn="ctr">
              <a:buNone/>
            </a:pPr>
            <a:r>
              <a:rPr lang="en-US" sz="1000" b="1" dirty="0">
                <a:solidFill>
                  <a:schemeClr val="tx2"/>
                </a:solidFill>
              </a:rPr>
              <a:t>Submit + photo</a:t>
            </a:r>
            <a:endParaRPr lang="en-US" sz="1000" dirty="0"/>
          </a:p>
        </p:txBody>
      </p:sp>
      <p:sp>
        <p:nvSpPr>
          <p:cNvPr id="5" name="Step 2"/>
          <p:cNvSpPr/>
          <p:nvPr/>
        </p:nvSpPr>
        <p:spPr>
          <a:xfrm>
            <a:off x="1643307" y="914400"/>
            <a:ext cx="1112955" cy="566928"/>
          </a:xfrm>
          <a:prstGeom prst="roundRect">
            <a:avLst>
              <a:gd name="adj" fmla="val 9677"/>
            </a:avLst>
          </a:prstGeom>
          <a:solidFill>
            <a:schemeClr val="tx1"/>
          </a:solidFill>
          <a:ln/>
        </p:spPr>
      </p:sp>
      <p:sp>
        <p:nvSpPr>
          <p:cNvPr id="6" name="Text 4"/>
          <p:cNvSpPr txBox="1"/>
          <p:nvPr/>
        </p:nvSpPr>
        <p:spPr>
          <a:xfrm>
            <a:off x="1679883" y="914400"/>
            <a:ext cx="1039803" cy="566928"/>
          </a:xfrm>
          <a:prstGeom prst="rect">
            <a:avLst/>
          </a:prstGeom>
          <a:noFill/>
          <a:ln/>
        </p:spPr>
        <p:txBody>
          <a:bodyPr wrap="square" lIns="0" tIns="0" rIns="0" bIns="0" rtlCol="0" anchor="ctr"/>
          <a:lstStyle/>
          <a:p>
            <a:pPr marL="0" indent="0" algn="ctr">
              <a:buNone/>
            </a:pPr>
            <a:r>
              <a:rPr lang="en-US" sz="1000" b="1" dirty="0">
                <a:solidFill>
                  <a:schemeClr val="bg1"/>
                </a:solidFill>
              </a:rPr>
              <a:t>AI classifies + routes</a:t>
            </a:r>
            <a:endParaRPr lang="en-US" sz="1000" dirty="0"/>
          </a:p>
        </p:txBody>
      </p:sp>
      <p:sp>
        <p:nvSpPr>
          <p:cNvPr id="7" name="Step 3"/>
          <p:cNvSpPr/>
          <p:nvPr/>
        </p:nvSpPr>
        <p:spPr>
          <a:xfrm>
            <a:off x="2829415" y="914400"/>
            <a:ext cx="1112955" cy="566928"/>
          </a:xfrm>
          <a:prstGeom prst="roundRect">
            <a:avLst>
              <a:gd name="adj" fmla="val 9677"/>
            </a:avLst>
          </a:prstGeom>
          <a:solidFill>
            <a:schemeClr val="accent5"/>
          </a:solidFill>
          <a:ln/>
        </p:spPr>
      </p:sp>
      <p:sp>
        <p:nvSpPr>
          <p:cNvPr id="8" name="Text 6"/>
          <p:cNvSpPr txBox="1"/>
          <p:nvPr/>
        </p:nvSpPr>
        <p:spPr>
          <a:xfrm>
            <a:off x="2865991" y="914400"/>
            <a:ext cx="1039803" cy="566928"/>
          </a:xfrm>
          <a:prstGeom prst="rect">
            <a:avLst/>
          </a:prstGeom>
          <a:noFill/>
          <a:ln/>
        </p:spPr>
        <p:txBody>
          <a:bodyPr wrap="square" lIns="0" tIns="0" rIns="0" bIns="0" rtlCol="0" anchor="ctr"/>
          <a:lstStyle/>
          <a:p>
            <a:pPr marL="0" indent="0" algn="ctr">
              <a:buNone/>
            </a:pPr>
            <a:r>
              <a:rPr lang="en-US" sz="1000" b="1" dirty="0">
                <a:solidFill>
                  <a:schemeClr val="tx2"/>
                </a:solidFill>
              </a:rPr>
              <a:t>Acknowledged</a:t>
            </a:r>
            <a:endParaRPr lang="en-US" sz="1000" dirty="0"/>
          </a:p>
        </p:txBody>
      </p:sp>
      <p:sp>
        <p:nvSpPr>
          <p:cNvPr id="9" name="Step 4"/>
          <p:cNvSpPr/>
          <p:nvPr/>
        </p:nvSpPr>
        <p:spPr>
          <a:xfrm>
            <a:off x="4015522" y="914400"/>
            <a:ext cx="1112955" cy="566928"/>
          </a:xfrm>
          <a:prstGeom prst="roundRect">
            <a:avLst>
              <a:gd name="adj" fmla="val 9677"/>
            </a:avLst>
          </a:prstGeom>
          <a:solidFill>
            <a:schemeClr val="accent5"/>
          </a:solidFill>
          <a:ln/>
        </p:spPr>
      </p:sp>
      <p:sp>
        <p:nvSpPr>
          <p:cNvPr id="10" name="Text 8"/>
          <p:cNvSpPr txBox="1"/>
          <p:nvPr/>
        </p:nvSpPr>
        <p:spPr>
          <a:xfrm>
            <a:off x="4052098" y="914400"/>
            <a:ext cx="1039803" cy="566928"/>
          </a:xfrm>
          <a:prstGeom prst="rect">
            <a:avLst/>
          </a:prstGeom>
          <a:noFill/>
          <a:ln/>
        </p:spPr>
        <p:txBody>
          <a:bodyPr wrap="square" lIns="0" tIns="0" rIns="0" bIns="0" rtlCol="0" anchor="ctr"/>
          <a:lstStyle/>
          <a:p>
            <a:pPr marL="0" indent="0" algn="ctr">
              <a:buNone/>
            </a:pPr>
            <a:r>
              <a:rPr lang="en-US" sz="1000" b="1" dirty="0">
                <a:solidFill>
                  <a:schemeClr val="tx2"/>
                </a:solidFill>
              </a:rPr>
              <a:t>In progress</a:t>
            </a:r>
            <a:endParaRPr lang="en-US" sz="1000" dirty="0"/>
          </a:p>
        </p:txBody>
      </p:sp>
      <p:sp>
        <p:nvSpPr>
          <p:cNvPr id="11" name="Step 5"/>
          <p:cNvSpPr/>
          <p:nvPr/>
        </p:nvSpPr>
        <p:spPr>
          <a:xfrm>
            <a:off x="5201630" y="914400"/>
            <a:ext cx="1112955" cy="566928"/>
          </a:xfrm>
          <a:prstGeom prst="roundRect">
            <a:avLst>
              <a:gd name="adj" fmla="val 9677"/>
            </a:avLst>
          </a:prstGeom>
          <a:solidFill>
            <a:schemeClr val="accent5"/>
          </a:solidFill>
          <a:ln/>
        </p:spPr>
      </p:sp>
      <p:sp>
        <p:nvSpPr>
          <p:cNvPr id="12" name="Text 10"/>
          <p:cNvSpPr txBox="1"/>
          <p:nvPr/>
        </p:nvSpPr>
        <p:spPr>
          <a:xfrm>
            <a:off x="5238206" y="914400"/>
            <a:ext cx="1039803" cy="566928"/>
          </a:xfrm>
          <a:prstGeom prst="rect">
            <a:avLst/>
          </a:prstGeom>
          <a:noFill/>
          <a:ln/>
        </p:spPr>
        <p:txBody>
          <a:bodyPr wrap="square" lIns="0" tIns="0" rIns="0" bIns="0" rtlCol="0" anchor="ctr"/>
          <a:lstStyle/>
          <a:p>
            <a:pPr marL="0" indent="0" algn="ctr">
              <a:buNone/>
            </a:pPr>
            <a:r>
              <a:rPr lang="en-US" sz="1000" b="1" dirty="0">
                <a:solidFill>
                  <a:schemeClr val="tx2"/>
                </a:solidFill>
              </a:rPr>
              <a:t>Proof photo</a:t>
            </a:r>
            <a:endParaRPr lang="en-US" sz="1000" dirty="0"/>
          </a:p>
        </p:txBody>
      </p:sp>
      <p:sp>
        <p:nvSpPr>
          <p:cNvPr id="13" name="Step 6"/>
          <p:cNvSpPr/>
          <p:nvPr/>
        </p:nvSpPr>
        <p:spPr>
          <a:xfrm>
            <a:off x="6387737" y="914400"/>
            <a:ext cx="1112955" cy="566928"/>
          </a:xfrm>
          <a:prstGeom prst="roundRect">
            <a:avLst>
              <a:gd name="adj" fmla="val 9677"/>
            </a:avLst>
          </a:prstGeom>
          <a:solidFill>
            <a:schemeClr val="tx1"/>
          </a:solidFill>
          <a:ln/>
        </p:spPr>
      </p:sp>
      <p:sp>
        <p:nvSpPr>
          <p:cNvPr id="14" name="Text 12"/>
          <p:cNvSpPr txBox="1"/>
          <p:nvPr/>
        </p:nvSpPr>
        <p:spPr>
          <a:xfrm>
            <a:off x="6424313" y="914400"/>
            <a:ext cx="1039803" cy="566928"/>
          </a:xfrm>
          <a:prstGeom prst="rect">
            <a:avLst/>
          </a:prstGeom>
          <a:noFill/>
          <a:ln/>
        </p:spPr>
        <p:txBody>
          <a:bodyPr wrap="square" lIns="0" tIns="0" rIns="0" bIns="0" rtlCol="0" anchor="ctr"/>
          <a:lstStyle/>
          <a:p>
            <a:pPr marL="0" indent="0" algn="ctr">
              <a:buNone/>
            </a:pPr>
            <a:r>
              <a:rPr lang="en-US" sz="1000" b="1" dirty="0">
                <a:solidFill>
                  <a:schemeClr val="bg1"/>
                </a:solidFill>
              </a:rPr>
              <a:t>Admin verifies</a:t>
            </a:r>
            <a:endParaRPr lang="en-US" sz="1000" dirty="0"/>
          </a:p>
        </p:txBody>
      </p:sp>
      <p:sp>
        <p:nvSpPr>
          <p:cNvPr id="15" name="Step 7"/>
          <p:cNvSpPr/>
          <p:nvPr/>
        </p:nvSpPr>
        <p:spPr>
          <a:xfrm>
            <a:off x="7573845" y="914400"/>
            <a:ext cx="1112955" cy="566928"/>
          </a:xfrm>
          <a:prstGeom prst="roundRect">
            <a:avLst>
              <a:gd name="adj" fmla="val 9677"/>
            </a:avLst>
          </a:prstGeom>
          <a:solidFill>
            <a:schemeClr val="accent2"/>
          </a:solidFill>
          <a:ln/>
        </p:spPr>
      </p:sp>
      <p:sp>
        <p:nvSpPr>
          <p:cNvPr id="16" name="Text 14"/>
          <p:cNvSpPr txBox="1"/>
          <p:nvPr/>
        </p:nvSpPr>
        <p:spPr>
          <a:xfrm>
            <a:off x="7610421" y="914400"/>
            <a:ext cx="1039803" cy="566928"/>
          </a:xfrm>
          <a:prstGeom prst="rect">
            <a:avLst/>
          </a:prstGeom>
          <a:noFill/>
          <a:ln/>
        </p:spPr>
        <p:txBody>
          <a:bodyPr wrap="square" lIns="0" tIns="0" rIns="0" bIns="0" rtlCol="0" anchor="ctr"/>
          <a:lstStyle/>
          <a:p>
            <a:pPr marL="0" indent="0" algn="ctr">
              <a:buNone/>
            </a:pPr>
            <a:r>
              <a:rPr lang="en-US" sz="1000" b="1" dirty="0">
                <a:solidFill>
                  <a:schemeClr val="bg1"/>
                </a:solidFill>
              </a:rPr>
              <a:t>Resolved</a:t>
            </a:r>
            <a:endParaRPr lang="en-US" sz="1000" dirty="0"/>
          </a:p>
        </p:txBody>
      </p:sp>
      <p:sp>
        <p:nvSpPr>
          <p:cNvPr id="17" name="Text 15"/>
          <p:cNvSpPr txBox="1"/>
          <p:nvPr/>
        </p:nvSpPr>
        <p:spPr>
          <a:xfrm>
            <a:off x="457200" y="1600200"/>
            <a:ext cx="8229600" cy="365760"/>
          </a:xfrm>
          <a:prstGeom prst="rect">
            <a:avLst/>
          </a:prstGeom>
          <a:noFill/>
          <a:ln/>
        </p:spPr>
        <p:txBody>
          <a:bodyPr wrap="square" lIns="0" tIns="0" rIns="0" bIns="0" rtlCol="0" anchor="t"/>
          <a:lstStyle/>
          <a:p>
            <a:pPr marL="0" indent="0">
              <a:buNone/>
            </a:pPr>
            <a:r>
              <a:rPr lang="en-US" sz="1050" i="1" dirty="0">
                <a:solidFill>
                  <a:schemeClr val="accent6"/>
                </a:solidFill>
              </a:rPr>
              <a:t>If the proof fails, the admin requests rework and the ticket returns to In Progress. Every transition is written to the audit history.</a:t>
            </a:r>
            <a:endParaRPr lang="en-US" sz="1050" dirty="0"/>
          </a:p>
        </p:txBody>
      </p:sp>
      <p:sp>
        <p:nvSpPr>
          <p:cNvPr id="18" name="Text 16"/>
          <p:cNvSpPr txBox="1"/>
          <p:nvPr/>
        </p:nvSpPr>
        <p:spPr>
          <a:xfrm>
            <a:off x="457200" y="2148840"/>
            <a:ext cx="365760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AUTO-ROUTING RULES</a:t>
            </a:r>
            <a:endParaRPr lang="en-US" sz="900" dirty="0"/>
          </a:p>
        </p:txBody>
      </p:sp>
      <p:sp>
        <p:nvSpPr>
          <p:cNvPr id="19" name="Rule Water"/>
          <p:cNvSpPr/>
          <p:nvPr/>
        </p:nvSpPr>
        <p:spPr>
          <a:xfrm>
            <a:off x="457200" y="2423160"/>
            <a:ext cx="3749040" cy="384048"/>
          </a:xfrm>
          <a:prstGeom prst="roundRect">
            <a:avLst>
              <a:gd name="adj" fmla="val 14286"/>
            </a:avLst>
          </a:prstGeom>
          <a:solidFill>
            <a:schemeClr val="bg2"/>
          </a:solidFill>
          <a:ln/>
        </p:spPr>
      </p:sp>
      <p:sp>
        <p:nvSpPr>
          <p:cNvPr id="20" name="Text 18"/>
          <p:cNvSpPr txBox="1"/>
          <p:nvPr/>
        </p:nvSpPr>
        <p:spPr>
          <a:xfrm>
            <a:off x="594360" y="2423160"/>
            <a:ext cx="1051560" cy="384048"/>
          </a:xfrm>
          <a:prstGeom prst="rect">
            <a:avLst/>
          </a:prstGeom>
          <a:noFill/>
          <a:ln/>
        </p:spPr>
        <p:txBody>
          <a:bodyPr wrap="square" lIns="0" tIns="0" rIns="0" bIns="0" rtlCol="0" anchor="ctr"/>
          <a:lstStyle/>
          <a:p>
            <a:pPr marL="0" indent="0">
              <a:buNone/>
            </a:pPr>
            <a:r>
              <a:rPr lang="en-US" sz="1050" b="1" dirty="0">
                <a:solidFill>
                  <a:schemeClr val="accent1"/>
                </a:solidFill>
              </a:rPr>
              <a:t>Water</a:t>
            </a:r>
            <a:endParaRPr lang="en-US" sz="1050" dirty="0"/>
          </a:p>
        </p:txBody>
      </p:sp>
      <p:sp>
        <p:nvSpPr>
          <p:cNvPr id="21" name="Text 19"/>
          <p:cNvSpPr txBox="1"/>
          <p:nvPr/>
        </p:nvSpPr>
        <p:spPr>
          <a:xfrm>
            <a:off x="1645920" y="2423160"/>
            <a:ext cx="2514600" cy="384048"/>
          </a:xfrm>
          <a:prstGeom prst="rect">
            <a:avLst/>
          </a:prstGeom>
          <a:noFill/>
          <a:ln/>
        </p:spPr>
        <p:txBody>
          <a:bodyPr wrap="square" lIns="0" tIns="0" rIns="0" bIns="0" rtlCol="0" anchor="ctr"/>
          <a:lstStyle/>
          <a:p>
            <a:pPr marL="0" indent="0">
              <a:buNone/>
            </a:pPr>
            <a:r>
              <a:rPr lang="en-US" sz="1050" dirty="0">
                <a:solidFill>
                  <a:schemeClr val="tx2"/>
                </a:solidFill>
              </a:rPr>
              <a:t>Plumbing &amp; Water Resources</a:t>
            </a:r>
            <a:endParaRPr lang="en-US" sz="1050" dirty="0"/>
          </a:p>
        </p:txBody>
      </p:sp>
      <p:sp>
        <p:nvSpPr>
          <p:cNvPr id="22" name="Rule Energy"/>
          <p:cNvSpPr/>
          <p:nvPr/>
        </p:nvSpPr>
        <p:spPr>
          <a:xfrm>
            <a:off x="457200" y="2880360"/>
            <a:ext cx="3749040" cy="384048"/>
          </a:xfrm>
          <a:prstGeom prst="roundRect">
            <a:avLst>
              <a:gd name="adj" fmla="val 14286"/>
            </a:avLst>
          </a:prstGeom>
          <a:solidFill>
            <a:schemeClr val="bg2"/>
          </a:solidFill>
          <a:ln/>
        </p:spPr>
      </p:sp>
      <p:sp>
        <p:nvSpPr>
          <p:cNvPr id="23" name="Text 21"/>
          <p:cNvSpPr txBox="1"/>
          <p:nvPr/>
        </p:nvSpPr>
        <p:spPr>
          <a:xfrm>
            <a:off x="594360" y="2880360"/>
            <a:ext cx="1051560" cy="384048"/>
          </a:xfrm>
          <a:prstGeom prst="rect">
            <a:avLst/>
          </a:prstGeom>
          <a:noFill/>
          <a:ln/>
        </p:spPr>
        <p:txBody>
          <a:bodyPr wrap="square" lIns="0" tIns="0" rIns="0" bIns="0" rtlCol="0" anchor="ctr"/>
          <a:lstStyle/>
          <a:p>
            <a:pPr marL="0" indent="0">
              <a:buNone/>
            </a:pPr>
            <a:r>
              <a:rPr lang="en-US" sz="1050" b="1" dirty="0">
                <a:solidFill>
                  <a:schemeClr val="accent1"/>
                </a:solidFill>
              </a:rPr>
              <a:t>Energy</a:t>
            </a:r>
            <a:endParaRPr lang="en-US" sz="1050" dirty="0"/>
          </a:p>
        </p:txBody>
      </p:sp>
      <p:sp>
        <p:nvSpPr>
          <p:cNvPr id="24" name="Text 22"/>
          <p:cNvSpPr txBox="1"/>
          <p:nvPr/>
        </p:nvSpPr>
        <p:spPr>
          <a:xfrm>
            <a:off x="1645920" y="2880360"/>
            <a:ext cx="2514600" cy="384048"/>
          </a:xfrm>
          <a:prstGeom prst="rect">
            <a:avLst/>
          </a:prstGeom>
          <a:noFill/>
          <a:ln/>
        </p:spPr>
        <p:txBody>
          <a:bodyPr wrap="square" lIns="0" tIns="0" rIns="0" bIns="0" rtlCol="0" anchor="ctr"/>
          <a:lstStyle/>
          <a:p>
            <a:pPr marL="0" indent="0">
              <a:buNone/>
            </a:pPr>
            <a:r>
              <a:rPr lang="en-US" sz="1050" dirty="0">
                <a:solidFill>
                  <a:schemeClr val="tx2"/>
                </a:solidFill>
              </a:rPr>
              <a:t>Electrical &amp; Energy Optimization</a:t>
            </a:r>
            <a:endParaRPr lang="en-US" sz="1050" dirty="0"/>
          </a:p>
        </p:txBody>
      </p:sp>
      <p:sp>
        <p:nvSpPr>
          <p:cNvPr id="25" name="Rule Waste"/>
          <p:cNvSpPr/>
          <p:nvPr/>
        </p:nvSpPr>
        <p:spPr>
          <a:xfrm>
            <a:off x="457200" y="3337560"/>
            <a:ext cx="3749040" cy="384048"/>
          </a:xfrm>
          <a:prstGeom prst="roundRect">
            <a:avLst>
              <a:gd name="adj" fmla="val 14286"/>
            </a:avLst>
          </a:prstGeom>
          <a:solidFill>
            <a:schemeClr val="bg2"/>
          </a:solidFill>
          <a:ln/>
        </p:spPr>
      </p:sp>
      <p:sp>
        <p:nvSpPr>
          <p:cNvPr id="26" name="Text 24"/>
          <p:cNvSpPr txBox="1"/>
          <p:nvPr/>
        </p:nvSpPr>
        <p:spPr>
          <a:xfrm>
            <a:off x="594360" y="3337560"/>
            <a:ext cx="1051560" cy="384048"/>
          </a:xfrm>
          <a:prstGeom prst="rect">
            <a:avLst/>
          </a:prstGeom>
          <a:noFill/>
          <a:ln/>
        </p:spPr>
        <p:txBody>
          <a:bodyPr wrap="square" lIns="0" tIns="0" rIns="0" bIns="0" rtlCol="0" anchor="ctr"/>
          <a:lstStyle/>
          <a:p>
            <a:pPr marL="0" indent="0">
              <a:buNone/>
            </a:pPr>
            <a:r>
              <a:rPr lang="en-US" sz="1050" b="1" dirty="0">
                <a:solidFill>
                  <a:schemeClr val="accent1"/>
                </a:solidFill>
              </a:rPr>
              <a:t>Waste</a:t>
            </a:r>
            <a:endParaRPr lang="en-US" sz="1050" dirty="0"/>
          </a:p>
        </p:txBody>
      </p:sp>
      <p:sp>
        <p:nvSpPr>
          <p:cNvPr id="27" name="Text 25"/>
          <p:cNvSpPr txBox="1"/>
          <p:nvPr/>
        </p:nvSpPr>
        <p:spPr>
          <a:xfrm>
            <a:off x="1645920" y="3337560"/>
            <a:ext cx="2514600" cy="384048"/>
          </a:xfrm>
          <a:prstGeom prst="rect">
            <a:avLst/>
          </a:prstGeom>
          <a:noFill/>
          <a:ln/>
        </p:spPr>
        <p:txBody>
          <a:bodyPr wrap="square" lIns="0" tIns="0" rIns="0" bIns="0" rtlCol="0" anchor="ctr"/>
          <a:lstStyle/>
          <a:p>
            <a:pPr marL="0" indent="0">
              <a:buNone/>
            </a:pPr>
            <a:r>
              <a:rPr lang="en-US" sz="1050" dirty="0">
                <a:solidFill>
                  <a:schemeClr val="tx2"/>
                </a:solidFill>
              </a:rPr>
              <a:t>Housekeeping &amp; Circular Waste</a:t>
            </a:r>
            <a:endParaRPr lang="en-US" sz="1050" dirty="0"/>
          </a:p>
        </p:txBody>
      </p:sp>
      <p:sp>
        <p:nvSpPr>
          <p:cNvPr id="28" name="Rule Biodiversity"/>
          <p:cNvSpPr/>
          <p:nvPr/>
        </p:nvSpPr>
        <p:spPr>
          <a:xfrm>
            <a:off x="457200" y="3794760"/>
            <a:ext cx="3749040" cy="384048"/>
          </a:xfrm>
          <a:prstGeom prst="roundRect">
            <a:avLst>
              <a:gd name="adj" fmla="val 14286"/>
            </a:avLst>
          </a:prstGeom>
          <a:solidFill>
            <a:schemeClr val="bg2"/>
          </a:solidFill>
          <a:ln/>
        </p:spPr>
      </p:sp>
      <p:sp>
        <p:nvSpPr>
          <p:cNvPr id="29" name="Text 27"/>
          <p:cNvSpPr txBox="1"/>
          <p:nvPr/>
        </p:nvSpPr>
        <p:spPr>
          <a:xfrm>
            <a:off x="594360" y="3794760"/>
            <a:ext cx="1051560" cy="384048"/>
          </a:xfrm>
          <a:prstGeom prst="rect">
            <a:avLst/>
          </a:prstGeom>
          <a:noFill/>
          <a:ln/>
        </p:spPr>
        <p:txBody>
          <a:bodyPr wrap="square" lIns="0" tIns="0" rIns="0" bIns="0" rtlCol="0" anchor="ctr"/>
          <a:lstStyle/>
          <a:p>
            <a:pPr marL="0" indent="0">
              <a:buNone/>
            </a:pPr>
            <a:r>
              <a:rPr lang="en-US" sz="1050" b="1" dirty="0">
                <a:solidFill>
                  <a:schemeClr val="accent1"/>
                </a:solidFill>
              </a:rPr>
              <a:t>Biodiversity</a:t>
            </a:r>
            <a:endParaRPr lang="en-US" sz="1050" dirty="0"/>
          </a:p>
        </p:txBody>
      </p:sp>
      <p:sp>
        <p:nvSpPr>
          <p:cNvPr id="30" name="Text 28"/>
          <p:cNvSpPr txBox="1"/>
          <p:nvPr/>
        </p:nvSpPr>
        <p:spPr>
          <a:xfrm>
            <a:off x="1645920" y="3794760"/>
            <a:ext cx="2514600" cy="384048"/>
          </a:xfrm>
          <a:prstGeom prst="rect">
            <a:avLst/>
          </a:prstGeom>
          <a:noFill/>
          <a:ln/>
        </p:spPr>
        <p:txBody>
          <a:bodyPr wrap="square" lIns="0" tIns="0" rIns="0" bIns="0" rtlCol="0" anchor="ctr"/>
          <a:lstStyle/>
          <a:p>
            <a:pPr marL="0" indent="0">
              <a:buNone/>
            </a:pPr>
            <a:r>
              <a:rPr lang="en-US" sz="1050" dirty="0">
                <a:solidFill>
                  <a:schemeClr val="tx2"/>
                </a:solidFill>
              </a:rPr>
              <a:t>Gardening &amp; Campus Biodiversity</a:t>
            </a:r>
            <a:endParaRPr lang="en-US" sz="1050" dirty="0"/>
          </a:p>
        </p:txBody>
      </p:sp>
      <p:sp>
        <p:nvSpPr>
          <p:cNvPr id="31" name="Rule Maintenance"/>
          <p:cNvSpPr/>
          <p:nvPr/>
        </p:nvSpPr>
        <p:spPr>
          <a:xfrm>
            <a:off x="457200" y="4251960"/>
            <a:ext cx="3749040" cy="384048"/>
          </a:xfrm>
          <a:prstGeom prst="roundRect">
            <a:avLst>
              <a:gd name="adj" fmla="val 14286"/>
            </a:avLst>
          </a:prstGeom>
          <a:solidFill>
            <a:schemeClr val="bg2"/>
          </a:solidFill>
          <a:ln/>
        </p:spPr>
      </p:sp>
      <p:sp>
        <p:nvSpPr>
          <p:cNvPr id="32" name="Text 30"/>
          <p:cNvSpPr txBox="1"/>
          <p:nvPr/>
        </p:nvSpPr>
        <p:spPr>
          <a:xfrm>
            <a:off x="594360" y="4251960"/>
            <a:ext cx="1051560" cy="384048"/>
          </a:xfrm>
          <a:prstGeom prst="rect">
            <a:avLst/>
          </a:prstGeom>
          <a:noFill/>
          <a:ln/>
        </p:spPr>
        <p:txBody>
          <a:bodyPr wrap="square" lIns="0" tIns="0" rIns="0" bIns="0" rtlCol="0" anchor="ctr"/>
          <a:lstStyle/>
          <a:p>
            <a:pPr marL="0" indent="0">
              <a:buNone/>
            </a:pPr>
            <a:r>
              <a:rPr lang="en-US" sz="1050" b="1" dirty="0">
                <a:solidFill>
                  <a:schemeClr val="accent1"/>
                </a:solidFill>
              </a:rPr>
              <a:t>Maintenance</a:t>
            </a:r>
            <a:endParaRPr lang="en-US" sz="1050" dirty="0"/>
          </a:p>
        </p:txBody>
      </p:sp>
      <p:sp>
        <p:nvSpPr>
          <p:cNvPr id="33" name="Text 31"/>
          <p:cNvSpPr txBox="1"/>
          <p:nvPr/>
        </p:nvSpPr>
        <p:spPr>
          <a:xfrm>
            <a:off x="1645920" y="4251960"/>
            <a:ext cx="2514600" cy="384048"/>
          </a:xfrm>
          <a:prstGeom prst="rect">
            <a:avLst/>
          </a:prstGeom>
          <a:noFill/>
          <a:ln/>
        </p:spPr>
        <p:txBody>
          <a:bodyPr wrap="square" lIns="0" tIns="0" rIns="0" bIns="0" rtlCol="0" anchor="ctr"/>
          <a:lstStyle/>
          <a:p>
            <a:pPr marL="0" indent="0">
              <a:buNone/>
            </a:pPr>
            <a:r>
              <a:rPr lang="en-US" sz="1050" dirty="0">
                <a:solidFill>
                  <a:schemeClr val="tx2"/>
                </a:solidFill>
              </a:rPr>
              <a:t>Integrated Facilities &amp; Civil Infra</a:t>
            </a:r>
            <a:endParaRPr lang="en-US" sz="1050" dirty="0"/>
          </a:p>
        </p:txBody>
      </p:sp>
      <p:sp>
        <p:nvSpPr>
          <p:cNvPr id="34" name="Text 32"/>
          <p:cNvSpPr txBox="1"/>
          <p:nvPr/>
        </p:nvSpPr>
        <p:spPr>
          <a:xfrm>
            <a:off x="4526280" y="2148840"/>
            <a:ext cx="411480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THREE ROLES, ONE TICKET</a:t>
            </a:r>
            <a:endParaRPr lang="en-US" sz="900" dirty="0"/>
          </a:p>
        </p:txBody>
      </p:sp>
      <p:sp>
        <p:nvSpPr>
          <p:cNvPr id="35" name="Role card Student / Faculty"/>
          <p:cNvSpPr/>
          <p:nvPr/>
        </p:nvSpPr>
        <p:spPr>
          <a:xfrm>
            <a:off x="4526280" y="2423160"/>
            <a:ext cx="4160520" cy="676656"/>
          </a:xfrm>
          <a:prstGeom prst="roundRect">
            <a:avLst>
              <a:gd name="adj" fmla="val 10811"/>
            </a:avLst>
          </a:prstGeom>
          <a:solidFill>
            <a:schemeClr val="bg1"/>
          </a:solidFill>
          <a:ln/>
          <a:effectLst>
            <a:outerShdw blurRad="76200" dist="25400" dir="5400000" algn="bl" rotWithShape="0">
              <a:srgbClr val="0A1F1C">
                <a:alpha val="12000"/>
              </a:srgbClr>
            </a:outerShdw>
          </a:effectLst>
        </p:spPr>
      </p:sp>
      <p:sp>
        <p:nvSpPr>
          <p:cNvPr id="36" name="Role Student / Faculty circle"/>
          <p:cNvSpPr/>
          <p:nvPr/>
        </p:nvSpPr>
        <p:spPr>
          <a:xfrm>
            <a:off x="4663440" y="2578608"/>
            <a:ext cx="365760" cy="365760"/>
          </a:xfrm>
          <a:prstGeom prst="ellipse">
            <a:avLst/>
          </a:prstGeom>
          <a:solidFill>
            <a:schemeClr val="accent1"/>
          </a:solidFill>
          <a:ln w="12700">
            <a:solidFill>
              <a:schemeClr val="accent1"/>
            </a:solidFill>
            <a:prstDash val="solid"/>
          </a:ln>
        </p:spPr>
      </p:sp>
      <p:pic>
        <p:nvPicPr>
          <p:cNvPr id="37" name="Role Student / Faculty icon" descr="Role Student / Faculty"/>
          <p:cNvPicPr>
            <a:picLocks noChangeAspect="1"/>
          </p:cNvPicPr>
          <p:nvPr/>
        </p:nvPicPr>
        <p:blipFill>
          <a:blip r:embed="rId3"/>
          <a:stretch>
            <a:fillRect/>
          </a:stretch>
        </p:blipFill>
        <p:spPr>
          <a:xfrm>
            <a:off x="4754880" y="2670048"/>
            <a:ext cx="182880" cy="182880"/>
          </a:xfrm>
          <a:prstGeom prst="rect">
            <a:avLst/>
          </a:prstGeom>
        </p:spPr>
      </p:pic>
      <p:sp>
        <p:nvSpPr>
          <p:cNvPr id="38" name="Text 35"/>
          <p:cNvSpPr txBox="1"/>
          <p:nvPr/>
        </p:nvSpPr>
        <p:spPr>
          <a:xfrm>
            <a:off x="5166360" y="2487168"/>
            <a:ext cx="3383280" cy="219456"/>
          </a:xfrm>
          <a:prstGeom prst="rect">
            <a:avLst/>
          </a:prstGeom>
          <a:noFill/>
          <a:ln/>
        </p:spPr>
        <p:txBody>
          <a:bodyPr wrap="square" lIns="0" tIns="0" rIns="0" bIns="0" rtlCol="0" anchor="t"/>
          <a:lstStyle/>
          <a:p>
            <a:pPr marL="0" indent="0">
              <a:buNone/>
            </a:pPr>
            <a:r>
              <a:rPr lang="en-US" sz="1100" b="1" dirty="0">
                <a:solidFill>
                  <a:schemeClr val="tx2"/>
                </a:solidFill>
              </a:rPr>
              <a:t>Student / Faculty</a:t>
            </a:r>
            <a:endParaRPr lang="en-US" sz="1100" dirty="0"/>
          </a:p>
        </p:txBody>
      </p:sp>
      <p:sp>
        <p:nvSpPr>
          <p:cNvPr id="39" name="Text 36"/>
          <p:cNvSpPr txBox="1"/>
          <p:nvPr/>
        </p:nvSpPr>
        <p:spPr>
          <a:xfrm>
            <a:off x="5166360" y="2706624"/>
            <a:ext cx="3429000" cy="365760"/>
          </a:xfrm>
          <a:prstGeom prst="rect">
            <a:avLst/>
          </a:prstGeom>
          <a:noFill/>
          <a:ln/>
        </p:spPr>
        <p:txBody>
          <a:bodyPr wrap="square" lIns="0" tIns="0" rIns="0" bIns="0" rtlCol="0" anchor="t"/>
          <a:lstStyle/>
          <a:p>
            <a:pPr marL="0" indent="0">
              <a:buNone/>
            </a:pPr>
            <a:r>
              <a:rPr lang="en-US" sz="1000" dirty="0">
                <a:solidFill>
                  <a:schemeClr val="accent6"/>
                </a:solidFill>
              </a:rPr>
              <a:t>Reports with photo evidence and tracks status live.</a:t>
            </a:r>
            <a:endParaRPr lang="en-US" sz="1000" dirty="0"/>
          </a:p>
        </p:txBody>
      </p:sp>
      <p:sp>
        <p:nvSpPr>
          <p:cNvPr id="40" name="Role card Technician"/>
          <p:cNvSpPr/>
          <p:nvPr/>
        </p:nvSpPr>
        <p:spPr>
          <a:xfrm>
            <a:off x="4526280" y="3191256"/>
            <a:ext cx="4160520" cy="676656"/>
          </a:xfrm>
          <a:prstGeom prst="roundRect">
            <a:avLst>
              <a:gd name="adj" fmla="val 10811"/>
            </a:avLst>
          </a:prstGeom>
          <a:solidFill>
            <a:schemeClr val="bg1"/>
          </a:solidFill>
          <a:ln/>
          <a:effectLst>
            <a:outerShdw blurRad="76200" dist="25400" dir="5400000" algn="bl" rotWithShape="0">
              <a:srgbClr val="0A1F1C">
                <a:alpha val="12000"/>
              </a:srgbClr>
            </a:outerShdw>
          </a:effectLst>
        </p:spPr>
      </p:sp>
      <p:sp>
        <p:nvSpPr>
          <p:cNvPr id="41" name="Role Technician circle"/>
          <p:cNvSpPr/>
          <p:nvPr/>
        </p:nvSpPr>
        <p:spPr>
          <a:xfrm>
            <a:off x="4663440" y="3346704"/>
            <a:ext cx="365760" cy="365760"/>
          </a:xfrm>
          <a:prstGeom prst="ellipse">
            <a:avLst/>
          </a:prstGeom>
          <a:solidFill>
            <a:schemeClr val="accent3"/>
          </a:solidFill>
          <a:ln w="12700">
            <a:solidFill>
              <a:schemeClr val="accent3"/>
            </a:solidFill>
            <a:prstDash val="solid"/>
          </a:ln>
        </p:spPr>
      </p:sp>
      <p:pic>
        <p:nvPicPr>
          <p:cNvPr id="42" name="Role Technician icon" descr="Role Technician"/>
          <p:cNvPicPr>
            <a:picLocks noChangeAspect="1"/>
          </p:cNvPicPr>
          <p:nvPr/>
        </p:nvPicPr>
        <p:blipFill>
          <a:blip r:embed="rId4"/>
          <a:stretch>
            <a:fillRect/>
          </a:stretch>
        </p:blipFill>
        <p:spPr>
          <a:xfrm>
            <a:off x="4754880" y="3438144"/>
            <a:ext cx="182880" cy="182880"/>
          </a:xfrm>
          <a:prstGeom prst="rect">
            <a:avLst/>
          </a:prstGeom>
        </p:spPr>
      </p:pic>
      <p:sp>
        <p:nvSpPr>
          <p:cNvPr id="43" name="Text 39"/>
          <p:cNvSpPr txBox="1"/>
          <p:nvPr/>
        </p:nvSpPr>
        <p:spPr>
          <a:xfrm>
            <a:off x="5166360" y="3255264"/>
            <a:ext cx="3383280" cy="219456"/>
          </a:xfrm>
          <a:prstGeom prst="rect">
            <a:avLst/>
          </a:prstGeom>
          <a:noFill/>
          <a:ln/>
        </p:spPr>
        <p:txBody>
          <a:bodyPr wrap="square" lIns="0" tIns="0" rIns="0" bIns="0" rtlCol="0" anchor="t"/>
          <a:lstStyle/>
          <a:p>
            <a:pPr marL="0" indent="0">
              <a:buNone/>
            </a:pPr>
            <a:r>
              <a:rPr lang="en-US" sz="1100" b="1" dirty="0">
                <a:solidFill>
                  <a:schemeClr val="tx2"/>
                </a:solidFill>
              </a:rPr>
              <a:t>Technician</a:t>
            </a:r>
            <a:endParaRPr lang="en-US" sz="1100" dirty="0"/>
          </a:p>
        </p:txBody>
      </p:sp>
      <p:sp>
        <p:nvSpPr>
          <p:cNvPr id="44" name="Text 40"/>
          <p:cNvSpPr txBox="1"/>
          <p:nvPr/>
        </p:nvSpPr>
        <p:spPr>
          <a:xfrm>
            <a:off x="5166360" y="3474720"/>
            <a:ext cx="3429000" cy="365760"/>
          </a:xfrm>
          <a:prstGeom prst="rect">
            <a:avLst/>
          </a:prstGeom>
          <a:noFill/>
          <a:ln/>
        </p:spPr>
        <p:txBody>
          <a:bodyPr wrap="square" lIns="0" tIns="0" rIns="0" bIns="0" rtlCol="0" anchor="t"/>
          <a:lstStyle/>
          <a:p>
            <a:pPr marL="0" indent="0">
              <a:buNone/>
            </a:pPr>
            <a:r>
              <a:rPr lang="en-US" sz="1000" dirty="0">
                <a:solidFill>
                  <a:schemeClr val="accent6"/>
                </a:solidFill>
              </a:rPr>
              <a:t>Acknowledges, starts work, uploads a device photo as proof with a resolution note.</a:t>
            </a:r>
            <a:endParaRPr lang="en-US" sz="1000" dirty="0"/>
          </a:p>
        </p:txBody>
      </p:sp>
      <p:sp>
        <p:nvSpPr>
          <p:cNvPr id="45" name="Role card Administrator"/>
          <p:cNvSpPr/>
          <p:nvPr/>
        </p:nvSpPr>
        <p:spPr>
          <a:xfrm>
            <a:off x="4526280" y="3959352"/>
            <a:ext cx="4160520" cy="676656"/>
          </a:xfrm>
          <a:prstGeom prst="roundRect">
            <a:avLst>
              <a:gd name="adj" fmla="val 10811"/>
            </a:avLst>
          </a:prstGeom>
          <a:solidFill>
            <a:schemeClr val="bg1"/>
          </a:solidFill>
          <a:ln/>
          <a:effectLst>
            <a:outerShdw blurRad="76200" dist="25400" dir="5400000" algn="bl" rotWithShape="0">
              <a:srgbClr val="0A1F1C">
                <a:alpha val="12000"/>
              </a:srgbClr>
            </a:outerShdw>
          </a:effectLst>
        </p:spPr>
      </p:sp>
      <p:sp>
        <p:nvSpPr>
          <p:cNvPr id="46" name="Role Administrator circle"/>
          <p:cNvSpPr/>
          <p:nvPr/>
        </p:nvSpPr>
        <p:spPr>
          <a:xfrm>
            <a:off x="4663440" y="4114800"/>
            <a:ext cx="365760" cy="365760"/>
          </a:xfrm>
          <a:prstGeom prst="ellipse">
            <a:avLst/>
          </a:prstGeom>
          <a:solidFill>
            <a:schemeClr val="accent2"/>
          </a:solidFill>
          <a:ln w="12700">
            <a:solidFill>
              <a:schemeClr val="accent2"/>
            </a:solidFill>
            <a:prstDash val="solid"/>
          </a:ln>
        </p:spPr>
      </p:sp>
      <p:pic>
        <p:nvPicPr>
          <p:cNvPr id="47" name="Role Administrator icon" descr="Role Administrator"/>
          <p:cNvPicPr>
            <a:picLocks noChangeAspect="1"/>
          </p:cNvPicPr>
          <p:nvPr/>
        </p:nvPicPr>
        <p:blipFill>
          <a:blip r:embed="rId5"/>
          <a:stretch>
            <a:fillRect/>
          </a:stretch>
        </p:blipFill>
        <p:spPr>
          <a:xfrm>
            <a:off x="4754880" y="4206240"/>
            <a:ext cx="182880" cy="182880"/>
          </a:xfrm>
          <a:prstGeom prst="rect">
            <a:avLst/>
          </a:prstGeom>
        </p:spPr>
      </p:pic>
      <p:sp>
        <p:nvSpPr>
          <p:cNvPr id="48" name="Text 43"/>
          <p:cNvSpPr txBox="1"/>
          <p:nvPr/>
        </p:nvSpPr>
        <p:spPr>
          <a:xfrm>
            <a:off x="5166360" y="4023360"/>
            <a:ext cx="3383280" cy="219456"/>
          </a:xfrm>
          <a:prstGeom prst="rect">
            <a:avLst/>
          </a:prstGeom>
          <a:noFill/>
          <a:ln/>
        </p:spPr>
        <p:txBody>
          <a:bodyPr wrap="square" lIns="0" tIns="0" rIns="0" bIns="0" rtlCol="0" anchor="t"/>
          <a:lstStyle/>
          <a:p>
            <a:pPr marL="0" indent="0">
              <a:buNone/>
            </a:pPr>
            <a:r>
              <a:rPr lang="en-US" sz="1100" b="1" dirty="0">
                <a:solidFill>
                  <a:schemeClr val="tx2"/>
                </a:solidFill>
              </a:rPr>
              <a:t>Administrator</a:t>
            </a:r>
            <a:endParaRPr lang="en-US" sz="1100" dirty="0"/>
          </a:p>
        </p:txBody>
      </p:sp>
      <p:sp>
        <p:nvSpPr>
          <p:cNvPr id="49" name="Text 44"/>
          <p:cNvSpPr txBox="1"/>
          <p:nvPr/>
        </p:nvSpPr>
        <p:spPr>
          <a:xfrm>
            <a:off x="5166360" y="4242816"/>
            <a:ext cx="3429000" cy="365760"/>
          </a:xfrm>
          <a:prstGeom prst="rect">
            <a:avLst/>
          </a:prstGeom>
          <a:noFill/>
          <a:ln/>
        </p:spPr>
        <p:txBody>
          <a:bodyPr wrap="square" lIns="0" tIns="0" rIns="0" bIns="0" rtlCol="0" anchor="t"/>
          <a:lstStyle/>
          <a:p>
            <a:pPr marL="0" indent="0">
              <a:buNone/>
            </a:pPr>
            <a:r>
              <a:rPr lang="en-US" sz="1000" dirty="0">
                <a:solidFill>
                  <a:schemeClr val="accent6"/>
                </a:solidFill>
              </a:rPr>
              <a:t>Inspects the proof, then approves or sends back for rework. Prints PDF audit reports.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Campus aerial (twin)" descr="Aerial view of the campus digital twin"/>
          <p:cNvPicPr>
            <a:picLocks noChangeAspect="1"/>
          </p:cNvPicPr>
          <p:nvPr/>
        </p:nvPicPr>
        <p:blipFill>
          <a:blip r:embed="rId3"/>
          <a:stretch>
            <a:fillRect/>
          </a:stretch>
        </p:blipFill>
        <p:spPr>
          <a:xfrm>
            <a:off x="0" y="0"/>
            <a:ext cx="3566160" cy="5143500"/>
          </a:xfrm>
          <a:prstGeom prst="rect">
            <a:avLst/>
          </a:prstGeom>
        </p:spPr>
      </p:pic>
      <p:sp>
        <p:nvSpPr>
          <p:cNvPr id="3" name="Text 0"/>
          <p:cNvSpPr>
            <a:spLocks noGrp="1"/>
          </p:cNvSpPr>
          <p:nvPr>
            <p:ph type="title" idx="100" hasCustomPrompt="1"/>
          </p:nvPr>
        </p:nvSpPr>
        <p:spPr>
          <a:xfrm>
            <a:off x="3931920" y="365760"/>
            <a:ext cx="4754880" cy="868680"/>
          </a:xfrm>
          <a:prstGeom prst="rect">
            <a:avLst/>
          </a:prstGeom>
          <a:noFill/>
          <a:ln/>
        </p:spPr>
        <p:txBody>
          <a:bodyPr wrap="square" lIns="0" tIns="0" rIns="0" bIns="0" rtlCol="0" anchor="ctr"/>
          <a:lstStyle/>
          <a:p>
            <a:pPr marL="0" indent="0" algn="l">
              <a:buNone/>
            </a:pPr>
            <a:r>
              <a:rPr lang="en-US" sz="2600" b="1" dirty="0">
                <a:solidFill>
                  <a:schemeClr val="bg1"/>
                </a:solidFill>
              </a:rPr>
              <a:t>A live digital twin of the campus</a:t>
            </a:r>
            <a:endParaRPr lang="en-US" sz="2600" dirty="0"/>
          </a:p>
        </p:txBody>
      </p:sp>
      <p:sp>
        <p:nvSpPr>
          <p:cNvPr id="4" name="Layers panel"/>
          <p:cNvSpPr/>
          <p:nvPr/>
        </p:nvSpPr>
        <p:spPr>
          <a:xfrm>
            <a:off x="182880" y="685800"/>
            <a:ext cx="3200400" cy="2606040"/>
          </a:xfrm>
          <a:prstGeom prst="roundRect">
            <a:avLst>
              <a:gd name="adj" fmla="val 3509"/>
            </a:avLst>
          </a:prstGeom>
          <a:solidFill>
            <a:schemeClr val="tx1">
              <a:alpha val="88000"/>
            </a:schemeClr>
          </a:solidFill>
          <a:ln/>
        </p:spPr>
      </p:sp>
      <p:sp>
        <p:nvSpPr>
          <p:cNvPr id="5" name="Text 2"/>
          <p:cNvSpPr txBox="1"/>
          <p:nvPr/>
        </p:nvSpPr>
        <p:spPr>
          <a:xfrm>
            <a:off x="274320" y="868680"/>
            <a:ext cx="3017520" cy="201168"/>
          </a:xfrm>
          <a:prstGeom prst="rect">
            <a:avLst/>
          </a:prstGeom>
          <a:noFill/>
          <a:ln/>
        </p:spPr>
        <p:txBody>
          <a:bodyPr wrap="square" lIns="0" tIns="0" rIns="0" bIns="0" rtlCol="0" anchor="t"/>
          <a:lstStyle/>
          <a:p>
            <a:pPr marL="0" indent="0">
              <a:buNone/>
            </a:pPr>
            <a:r>
              <a:rPr lang="en-US" sz="900" b="1" kern="0" spc="200" dirty="0">
                <a:solidFill>
                  <a:schemeClr val="accent2"/>
                </a:solidFill>
              </a:rPr>
              <a:t>TELEMETRY LAYERS</a:t>
            </a:r>
            <a:endParaRPr lang="en-US" sz="900" dirty="0"/>
          </a:p>
        </p:txBody>
      </p:sp>
      <p:sp>
        <p:nvSpPr>
          <p:cNvPr id="6" name="Layer Active Issues"/>
          <p:cNvSpPr/>
          <p:nvPr/>
        </p:nvSpPr>
        <p:spPr>
          <a:xfrm>
            <a:off x="274320" y="1143000"/>
            <a:ext cx="3017520" cy="402336"/>
          </a:xfrm>
          <a:prstGeom prst="roundRect">
            <a:avLst>
              <a:gd name="adj" fmla="val 50000"/>
            </a:avLst>
          </a:prstGeom>
          <a:solidFill>
            <a:schemeClr val="tx1">
              <a:alpha val="90000"/>
            </a:schemeClr>
          </a:solidFill>
          <a:ln w="19050">
            <a:solidFill>
              <a:schemeClr val="accent4"/>
            </a:solidFill>
            <a:prstDash val="solid"/>
          </a:ln>
        </p:spPr>
      </p:sp>
      <p:sp>
        <p:nvSpPr>
          <p:cNvPr id="7" name="Layer Active Issues circle"/>
          <p:cNvSpPr/>
          <p:nvPr/>
        </p:nvSpPr>
        <p:spPr>
          <a:xfrm>
            <a:off x="329184" y="1197864"/>
            <a:ext cx="292608" cy="292608"/>
          </a:xfrm>
          <a:prstGeom prst="ellipse">
            <a:avLst/>
          </a:prstGeom>
          <a:solidFill>
            <a:schemeClr val="accent4"/>
          </a:solidFill>
          <a:ln w="12700">
            <a:solidFill>
              <a:schemeClr val="accent4"/>
            </a:solidFill>
            <a:prstDash val="solid"/>
          </a:ln>
        </p:spPr>
      </p:sp>
      <p:pic>
        <p:nvPicPr>
          <p:cNvPr id="8" name="Layer Active Issues icon" descr="Layer Active Issues"/>
          <p:cNvPicPr>
            <a:picLocks noChangeAspect="1"/>
          </p:cNvPicPr>
          <p:nvPr/>
        </p:nvPicPr>
        <p:blipFill>
          <a:blip r:embed="rId4"/>
          <a:stretch>
            <a:fillRect/>
          </a:stretch>
        </p:blipFill>
        <p:spPr>
          <a:xfrm>
            <a:off x="402336" y="1271016"/>
            <a:ext cx="146304" cy="146304"/>
          </a:xfrm>
          <a:prstGeom prst="rect">
            <a:avLst/>
          </a:prstGeom>
        </p:spPr>
      </p:pic>
      <p:sp>
        <p:nvSpPr>
          <p:cNvPr id="9" name="Text 5"/>
          <p:cNvSpPr txBox="1"/>
          <p:nvPr/>
        </p:nvSpPr>
        <p:spPr>
          <a:xfrm>
            <a:off x="749808" y="1143000"/>
            <a:ext cx="2468880" cy="402336"/>
          </a:xfrm>
          <a:prstGeom prst="rect">
            <a:avLst/>
          </a:prstGeom>
          <a:noFill/>
          <a:ln/>
        </p:spPr>
        <p:txBody>
          <a:bodyPr wrap="square" lIns="0" tIns="0" rIns="0" bIns="0" rtlCol="0" anchor="ctr"/>
          <a:lstStyle/>
          <a:p>
            <a:pPr marL="0" indent="0">
              <a:buNone/>
            </a:pPr>
            <a:r>
              <a:rPr lang="en-US" sz="1100" b="1" dirty="0">
                <a:solidFill>
                  <a:schemeClr val="bg1"/>
                </a:solidFill>
              </a:rPr>
              <a:t>Active Issues</a:t>
            </a:r>
            <a:endParaRPr lang="en-US" sz="1100" dirty="0"/>
          </a:p>
        </p:txBody>
      </p:sp>
      <p:sp>
        <p:nvSpPr>
          <p:cNvPr id="10" name="Layer Smart Bins"/>
          <p:cNvSpPr/>
          <p:nvPr/>
        </p:nvSpPr>
        <p:spPr>
          <a:xfrm>
            <a:off x="274320" y="1645920"/>
            <a:ext cx="3017520" cy="402336"/>
          </a:xfrm>
          <a:prstGeom prst="roundRect">
            <a:avLst>
              <a:gd name="adj" fmla="val 50000"/>
            </a:avLst>
          </a:prstGeom>
          <a:solidFill>
            <a:schemeClr val="tx1">
              <a:alpha val="90000"/>
            </a:schemeClr>
          </a:solidFill>
          <a:ln w="19050">
            <a:solidFill>
              <a:schemeClr val="accent3"/>
            </a:solidFill>
            <a:prstDash val="solid"/>
          </a:ln>
        </p:spPr>
      </p:sp>
      <p:sp>
        <p:nvSpPr>
          <p:cNvPr id="11" name="Layer Smart Bins circle"/>
          <p:cNvSpPr/>
          <p:nvPr/>
        </p:nvSpPr>
        <p:spPr>
          <a:xfrm>
            <a:off x="329184" y="1700784"/>
            <a:ext cx="292608" cy="292608"/>
          </a:xfrm>
          <a:prstGeom prst="ellipse">
            <a:avLst/>
          </a:prstGeom>
          <a:solidFill>
            <a:schemeClr val="accent3"/>
          </a:solidFill>
          <a:ln w="12700">
            <a:solidFill>
              <a:schemeClr val="accent3"/>
            </a:solidFill>
            <a:prstDash val="solid"/>
          </a:ln>
        </p:spPr>
      </p:sp>
      <p:pic>
        <p:nvPicPr>
          <p:cNvPr id="12" name="Layer Smart Bins icon" descr="Layer Smart Bins"/>
          <p:cNvPicPr>
            <a:picLocks noChangeAspect="1"/>
          </p:cNvPicPr>
          <p:nvPr/>
        </p:nvPicPr>
        <p:blipFill>
          <a:blip r:embed="rId5"/>
          <a:stretch>
            <a:fillRect/>
          </a:stretch>
        </p:blipFill>
        <p:spPr>
          <a:xfrm>
            <a:off x="402336" y="1773936"/>
            <a:ext cx="146304" cy="146304"/>
          </a:xfrm>
          <a:prstGeom prst="rect">
            <a:avLst/>
          </a:prstGeom>
        </p:spPr>
      </p:pic>
      <p:sp>
        <p:nvSpPr>
          <p:cNvPr id="13" name="Text 8"/>
          <p:cNvSpPr txBox="1"/>
          <p:nvPr/>
        </p:nvSpPr>
        <p:spPr>
          <a:xfrm>
            <a:off x="749808" y="1645920"/>
            <a:ext cx="2468880" cy="402336"/>
          </a:xfrm>
          <a:prstGeom prst="rect">
            <a:avLst/>
          </a:prstGeom>
          <a:noFill/>
          <a:ln/>
        </p:spPr>
        <p:txBody>
          <a:bodyPr wrap="square" lIns="0" tIns="0" rIns="0" bIns="0" rtlCol="0" anchor="ctr"/>
          <a:lstStyle/>
          <a:p>
            <a:pPr marL="0" indent="0">
              <a:buNone/>
            </a:pPr>
            <a:r>
              <a:rPr lang="en-US" sz="1100" b="1" dirty="0">
                <a:solidFill>
                  <a:schemeClr val="bg1"/>
                </a:solidFill>
              </a:rPr>
              <a:t>Smart Bins</a:t>
            </a:r>
            <a:endParaRPr lang="en-US" sz="1100" dirty="0"/>
          </a:p>
        </p:txBody>
      </p:sp>
      <p:sp>
        <p:nvSpPr>
          <p:cNvPr id="14" name="Layer Energy Heatmap"/>
          <p:cNvSpPr/>
          <p:nvPr/>
        </p:nvSpPr>
        <p:spPr>
          <a:xfrm>
            <a:off x="274320" y="2148840"/>
            <a:ext cx="3017520" cy="402336"/>
          </a:xfrm>
          <a:prstGeom prst="roundRect">
            <a:avLst>
              <a:gd name="adj" fmla="val 50000"/>
            </a:avLst>
          </a:prstGeom>
          <a:solidFill>
            <a:schemeClr val="tx1">
              <a:alpha val="90000"/>
            </a:schemeClr>
          </a:solidFill>
          <a:ln w="19050">
            <a:solidFill>
              <a:srgbClr val="0E7490"/>
            </a:solidFill>
            <a:prstDash val="solid"/>
          </a:ln>
        </p:spPr>
      </p:sp>
      <p:sp>
        <p:nvSpPr>
          <p:cNvPr id="15" name="Layer Energy Heatmap circle"/>
          <p:cNvSpPr/>
          <p:nvPr/>
        </p:nvSpPr>
        <p:spPr>
          <a:xfrm>
            <a:off x="329184" y="2203704"/>
            <a:ext cx="292608" cy="292608"/>
          </a:xfrm>
          <a:prstGeom prst="ellipse">
            <a:avLst/>
          </a:prstGeom>
          <a:solidFill>
            <a:srgbClr val="0E7490"/>
          </a:solidFill>
          <a:ln w="12700">
            <a:solidFill>
              <a:srgbClr val="0E7490"/>
            </a:solidFill>
            <a:prstDash val="solid"/>
          </a:ln>
        </p:spPr>
      </p:sp>
      <p:pic>
        <p:nvPicPr>
          <p:cNvPr id="16" name="Layer Energy Heatmap icon" descr="Layer Energy Heatmap"/>
          <p:cNvPicPr>
            <a:picLocks noChangeAspect="1"/>
          </p:cNvPicPr>
          <p:nvPr/>
        </p:nvPicPr>
        <p:blipFill>
          <a:blip r:embed="rId6"/>
          <a:stretch>
            <a:fillRect/>
          </a:stretch>
        </p:blipFill>
        <p:spPr>
          <a:xfrm>
            <a:off x="402336" y="2276856"/>
            <a:ext cx="146304" cy="146304"/>
          </a:xfrm>
          <a:prstGeom prst="rect">
            <a:avLst/>
          </a:prstGeom>
        </p:spPr>
      </p:pic>
      <p:sp>
        <p:nvSpPr>
          <p:cNvPr id="17" name="Text 11"/>
          <p:cNvSpPr txBox="1"/>
          <p:nvPr/>
        </p:nvSpPr>
        <p:spPr>
          <a:xfrm>
            <a:off x="749808" y="2148840"/>
            <a:ext cx="2468880" cy="402336"/>
          </a:xfrm>
          <a:prstGeom prst="rect">
            <a:avLst/>
          </a:prstGeom>
          <a:noFill/>
          <a:ln/>
        </p:spPr>
        <p:txBody>
          <a:bodyPr wrap="square" lIns="0" tIns="0" rIns="0" bIns="0" rtlCol="0" anchor="ctr"/>
          <a:lstStyle/>
          <a:p>
            <a:pPr marL="0" indent="0">
              <a:buNone/>
            </a:pPr>
            <a:r>
              <a:rPr lang="en-US" sz="1100" b="1" dirty="0">
                <a:solidFill>
                  <a:schemeClr val="bg1"/>
                </a:solidFill>
              </a:rPr>
              <a:t>Energy Heatmap</a:t>
            </a:r>
            <a:endParaRPr lang="en-US" sz="1100" dirty="0"/>
          </a:p>
        </p:txBody>
      </p:sp>
      <p:sp>
        <p:nvSpPr>
          <p:cNvPr id="18" name="Layer Solar Arrays &amp; AQI"/>
          <p:cNvSpPr/>
          <p:nvPr/>
        </p:nvSpPr>
        <p:spPr>
          <a:xfrm>
            <a:off x="274320" y="2651760"/>
            <a:ext cx="3017520" cy="402336"/>
          </a:xfrm>
          <a:prstGeom prst="roundRect">
            <a:avLst>
              <a:gd name="adj" fmla="val 50000"/>
            </a:avLst>
          </a:prstGeom>
          <a:solidFill>
            <a:schemeClr val="tx1">
              <a:alpha val="90000"/>
            </a:schemeClr>
          </a:solidFill>
          <a:ln w="19050">
            <a:solidFill>
              <a:schemeClr val="accent2"/>
            </a:solidFill>
            <a:prstDash val="solid"/>
          </a:ln>
        </p:spPr>
      </p:sp>
      <p:sp>
        <p:nvSpPr>
          <p:cNvPr id="19" name="Layer Solar Arrays &amp; AQI circle"/>
          <p:cNvSpPr/>
          <p:nvPr/>
        </p:nvSpPr>
        <p:spPr>
          <a:xfrm>
            <a:off x="329184" y="2706624"/>
            <a:ext cx="292608" cy="292608"/>
          </a:xfrm>
          <a:prstGeom prst="ellipse">
            <a:avLst/>
          </a:prstGeom>
          <a:solidFill>
            <a:schemeClr val="accent2"/>
          </a:solidFill>
          <a:ln w="12700">
            <a:solidFill>
              <a:schemeClr val="accent2"/>
            </a:solidFill>
            <a:prstDash val="solid"/>
          </a:ln>
        </p:spPr>
      </p:sp>
      <p:pic>
        <p:nvPicPr>
          <p:cNvPr id="20" name="Layer Solar Arrays &amp; AQI icon" descr="Layer Solar Arrays &amp; AQI"/>
          <p:cNvPicPr>
            <a:picLocks noChangeAspect="1"/>
          </p:cNvPicPr>
          <p:nvPr/>
        </p:nvPicPr>
        <p:blipFill>
          <a:blip r:embed="rId7"/>
          <a:stretch>
            <a:fillRect/>
          </a:stretch>
        </p:blipFill>
        <p:spPr>
          <a:xfrm>
            <a:off x="402336" y="2779776"/>
            <a:ext cx="146304" cy="146304"/>
          </a:xfrm>
          <a:prstGeom prst="rect">
            <a:avLst/>
          </a:prstGeom>
        </p:spPr>
      </p:pic>
      <p:sp>
        <p:nvSpPr>
          <p:cNvPr id="21" name="Text 14"/>
          <p:cNvSpPr txBox="1"/>
          <p:nvPr/>
        </p:nvSpPr>
        <p:spPr>
          <a:xfrm>
            <a:off x="749808" y="2651760"/>
            <a:ext cx="2468880" cy="402336"/>
          </a:xfrm>
          <a:prstGeom prst="rect">
            <a:avLst/>
          </a:prstGeom>
          <a:noFill/>
          <a:ln/>
        </p:spPr>
        <p:txBody>
          <a:bodyPr wrap="square" lIns="0" tIns="0" rIns="0" bIns="0" rtlCol="0" anchor="ctr"/>
          <a:lstStyle/>
          <a:p>
            <a:pPr marL="0" indent="0">
              <a:buNone/>
            </a:pPr>
            <a:r>
              <a:rPr lang="en-US" sz="1100" b="1" dirty="0">
                <a:solidFill>
                  <a:schemeClr val="bg1"/>
                </a:solidFill>
              </a:rPr>
              <a:t>Solar Arrays &amp; AQI</a:t>
            </a:r>
            <a:endParaRPr lang="en-US" sz="1100" dirty="0"/>
          </a:p>
        </p:txBody>
      </p:sp>
      <p:sp>
        <p:nvSpPr>
          <p:cNvPr id="22" name="Map caption panel"/>
          <p:cNvSpPr/>
          <p:nvPr/>
        </p:nvSpPr>
        <p:spPr>
          <a:xfrm>
            <a:off x="274320" y="3657600"/>
            <a:ext cx="3017520" cy="1143000"/>
          </a:xfrm>
          <a:prstGeom prst="roundRect">
            <a:avLst>
              <a:gd name="adj" fmla="val 6400"/>
            </a:avLst>
          </a:prstGeom>
          <a:solidFill>
            <a:schemeClr val="tx1">
              <a:alpha val="92000"/>
            </a:schemeClr>
          </a:solidFill>
          <a:ln/>
        </p:spPr>
      </p:sp>
      <p:sp>
        <p:nvSpPr>
          <p:cNvPr id="23" name="Text 16"/>
          <p:cNvSpPr txBox="1"/>
          <p:nvPr/>
        </p:nvSpPr>
        <p:spPr>
          <a:xfrm>
            <a:off x="411480" y="3721608"/>
            <a:ext cx="2743200" cy="1005840"/>
          </a:xfrm>
          <a:prstGeom prst="rect">
            <a:avLst/>
          </a:prstGeom>
          <a:noFill/>
          <a:ln/>
        </p:spPr>
        <p:txBody>
          <a:bodyPr wrap="square" lIns="0" tIns="0" rIns="0" bIns="0" rtlCol="0" anchor="ctr"/>
          <a:lstStyle/>
          <a:p>
            <a:pPr marL="0" indent="0">
              <a:buNone/>
            </a:pPr>
            <a:r>
              <a:rPr lang="en-US" sz="1000" dirty="0">
                <a:solidFill>
                  <a:schemeClr val="bg1"/>
                </a:solidFill>
              </a:rPr>
              <a:t>Interactive 2D campus map with Aerial and Blueprint views. Click a building such as School of Engineering to inspect its kW draw, bins and active tickets.</a:t>
            </a:r>
            <a:endParaRPr lang="en-US" sz="1000" dirty="0"/>
          </a:p>
        </p:txBody>
      </p:sp>
      <p:sp>
        <p:nvSpPr>
          <p:cNvPr id="24" name="Twin stat 1"/>
          <p:cNvSpPr/>
          <p:nvPr/>
        </p:nvSpPr>
        <p:spPr>
          <a:xfrm>
            <a:off x="3931920" y="1417320"/>
            <a:ext cx="4754880" cy="914400"/>
          </a:xfrm>
          <a:prstGeom prst="roundRect">
            <a:avLst>
              <a:gd name="adj" fmla="val 8000"/>
            </a:avLst>
          </a:prstGeom>
          <a:solidFill>
            <a:schemeClr val="tx2"/>
          </a:solidFill>
          <a:ln/>
        </p:spPr>
      </p:sp>
      <p:sp>
        <p:nvSpPr>
          <p:cNvPr id="25" name="Text 18"/>
          <p:cNvSpPr txBox="1"/>
          <p:nvPr/>
        </p:nvSpPr>
        <p:spPr>
          <a:xfrm>
            <a:off x="4069080" y="1417320"/>
            <a:ext cx="1463040" cy="91440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90 CFM</a:t>
            </a:r>
            <a:endParaRPr lang="en-US" sz="2400" dirty="0"/>
          </a:p>
        </p:txBody>
      </p:sp>
      <p:sp>
        <p:nvSpPr>
          <p:cNvPr id="26" name="Text 19"/>
          <p:cNvSpPr txBox="1"/>
          <p:nvPr/>
        </p:nvSpPr>
        <p:spPr>
          <a:xfrm>
            <a:off x="5577840" y="1417320"/>
            <a:ext cx="2971800" cy="914400"/>
          </a:xfrm>
          <a:prstGeom prst="rect">
            <a:avLst/>
          </a:prstGeom>
          <a:noFill/>
          <a:ln/>
        </p:spPr>
        <p:txBody>
          <a:bodyPr wrap="square" lIns="0" tIns="0" rIns="0" bIns="0" rtlCol="0" anchor="ctr"/>
          <a:lstStyle/>
          <a:p>
            <a:pPr marL="0" indent="0">
              <a:buNone/>
            </a:pPr>
            <a:r>
              <a:rPr lang="en-US" sz="1100" dirty="0">
                <a:solidFill>
                  <a:schemeClr val="bg1"/>
                </a:solidFill>
              </a:rPr>
              <a:t>Vacant rooms drop to eco-standby airflow; occupied labs run 380 to 940 CFM (Track 04).</a:t>
            </a:r>
            <a:endParaRPr lang="en-US" sz="1100" dirty="0"/>
          </a:p>
        </p:txBody>
      </p:sp>
      <p:sp>
        <p:nvSpPr>
          <p:cNvPr id="27" name="Twin stat 2"/>
          <p:cNvSpPr/>
          <p:nvPr/>
        </p:nvSpPr>
        <p:spPr>
          <a:xfrm>
            <a:off x="3931920" y="2468880"/>
            <a:ext cx="4754880" cy="914400"/>
          </a:xfrm>
          <a:prstGeom prst="roundRect">
            <a:avLst>
              <a:gd name="adj" fmla="val 8000"/>
            </a:avLst>
          </a:prstGeom>
          <a:solidFill>
            <a:schemeClr val="tx2"/>
          </a:solidFill>
          <a:ln/>
        </p:spPr>
      </p:sp>
      <p:sp>
        <p:nvSpPr>
          <p:cNvPr id="28" name="Text 21"/>
          <p:cNvSpPr txBox="1"/>
          <p:nvPr/>
        </p:nvSpPr>
        <p:spPr>
          <a:xfrm>
            <a:off x="4069080" y="2468880"/>
            <a:ext cx="1463040" cy="91440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&gt; 80%</a:t>
            </a:r>
            <a:endParaRPr lang="en-US" sz="2400" dirty="0"/>
          </a:p>
        </p:txBody>
      </p:sp>
      <p:sp>
        <p:nvSpPr>
          <p:cNvPr id="29" name="Text 22"/>
          <p:cNvSpPr txBox="1"/>
          <p:nvPr/>
        </p:nvSpPr>
        <p:spPr>
          <a:xfrm>
            <a:off x="5577840" y="2468880"/>
            <a:ext cx="2971800" cy="914400"/>
          </a:xfrm>
          <a:prstGeom prst="rect">
            <a:avLst/>
          </a:prstGeom>
          <a:noFill/>
          <a:ln/>
        </p:spPr>
        <p:txBody>
          <a:bodyPr wrap="square" lIns="0" tIns="0" rIns="0" bIns="0" rtlCol="0" anchor="ctr"/>
          <a:lstStyle/>
          <a:p>
            <a:pPr marL="0" indent="0">
              <a:buNone/>
            </a:pPr>
            <a:r>
              <a:rPr lang="en-US" sz="1100" dirty="0">
                <a:solidFill>
                  <a:schemeClr val="bg1"/>
                </a:solidFill>
              </a:rPr>
              <a:t>Bin fullness that triggers a collection dispatch, replacing rigid truck rounds (Track 01).</a:t>
            </a:r>
            <a:endParaRPr lang="en-US" sz="1100" dirty="0"/>
          </a:p>
        </p:txBody>
      </p:sp>
      <p:sp>
        <p:nvSpPr>
          <p:cNvPr id="30" name="Twin stat 3"/>
          <p:cNvSpPr/>
          <p:nvPr/>
        </p:nvSpPr>
        <p:spPr>
          <a:xfrm>
            <a:off x="3931920" y="3520440"/>
            <a:ext cx="4754880" cy="914400"/>
          </a:xfrm>
          <a:prstGeom prst="roundRect">
            <a:avLst>
              <a:gd name="adj" fmla="val 8000"/>
            </a:avLst>
          </a:prstGeom>
          <a:solidFill>
            <a:schemeClr val="tx2"/>
          </a:solidFill>
          <a:ln/>
        </p:spPr>
      </p:sp>
      <p:sp>
        <p:nvSpPr>
          <p:cNvPr id="31" name="Text 24"/>
          <p:cNvSpPr txBox="1"/>
          <p:nvPr/>
        </p:nvSpPr>
        <p:spPr>
          <a:xfrm>
            <a:off x="4069080" y="3520440"/>
            <a:ext cx="1463040" cy="91440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9 blocks</a:t>
            </a:r>
            <a:endParaRPr lang="en-US" sz="2400" dirty="0"/>
          </a:p>
        </p:txBody>
      </p:sp>
      <p:sp>
        <p:nvSpPr>
          <p:cNvPr id="32" name="Text 25"/>
          <p:cNvSpPr txBox="1"/>
          <p:nvPr/>
        </p:nvSpPr>
        <p:spPr>
          <a:xfrm>
            <a:off x="5577840" y="3520440"/>
            <a:ext cx="2971800" cy="914400"/>
          </a:xfrm>
          <a:prstGeom prst="rect">
            <a:avLst/>
          </a:prstGeom>
          <a:noFill/>
          <a:ln/>
        </p:spPr>
        <p:txBody>
          <a:bodyPr wrap="square" lIns="0" tIns="0" rIns="0" bIns="0" rtlCol="0" anchor="ctr"/>
          <a:lstStyle/>
          <a:p>
            <a:pPr marL="0" indent="0">
              <a:buNone/>
            </a:pPr>
            <a:r>
              <a:rPr lang="en-US" sz="1100" dirty="0">
                <a:solidFill>
                  <a:schemeClr val="bg1"/>
                </a:solidFill>
              </a:rPr>
              <a:t>Tickets, bins, kW load and solar readings all tie back to the same building.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What-if engines price the payoff</a:t>
            </a:r>
            <a:endParaRPr lang="en-US" sz="2600" dirty="0"/>
          </a:p>
        </p:txBody>
      </p:sp>
      <p:sp>
        <p:nvSpPr>
          <p:cNvPr id="3" name="Energy chart card"/>
          <p:cNvSpPr/>
          <p:nvPr/>
        </p:nvSpPr>
        <p:spPr>
          <a:xfrm>
            <a:off x="457200" y="914400"/>
            <a:ext cx="4937760" cy="3063240"/>
          </a:xfrm>
          <a:prstGeom prst="roundRect">
            <a:avLst>
              <a:gd name="adj" fmla="val 2388"/>
            </a:avLst>
          </a:prstGeom>
          <a:solidFill>
            <a:schemeClr val="bg1"/>
          </a:solidFill>
          <a:ln w="12700">
            <a:solidFill>
              <a:schemeClr val="accent5"/>
            </a:solidFill>
            <a:prstDash val="solid"/>
          </a:ln>
          <a:effectLst>
            <a:outerShdw blurRad="76200" dist="25400" dir="5400000" algn="bl" rotWithShape="0">
              <a:srgbClr val="0A1F1C">
                <a:alpha val="12000"/>
              </a:srgbClr>
            </a:outerShdw>
          </a:effectLst>
        </p:spPr>
      </p:sp>
      <p:sp>
        <p:nvSpPr>
          <p:cNvPr id="4" name="Text 2"/>
          <p:cNvSpPr txBox="1"/>
          <p:nvPr/>
        </p:nvSpPr>
        <p:spPr>
          <a:xfrm>
            <a:off x="640080" y="1005840"/>
            <a:ext cx="4572000" cy="274320"/>
          </a:xfrm>
          <a:prstGeom prst="rect">
            <a:avLst/>
          </a:prstGeom>
          <a:noFill/>
          <a:ln/>
        </p:spPr>
        <p:txBody>
          <a:bodyPr wrap="square" lIns="0" tIns="0" rIns="0" bIns="0" rtlCol="0" anchor="t"/>
          <a:lstStyle/>
          <a:p>
            <a:pPr marL="0" indent="0">
              <a:buNone/>
            </a:pPr>
            <a:r>
              <a:rPr lang="en-US" sz="1100" b="1" dirty="0">
                <a:solidFill>
                  <a:schemeClr val="tx2"/>
                </a:solidFill>
              </a:rPr>
              <a:t>Track 03: hourly campus load (kW), baseline vs optimized</a:t>
            </a:r>
            <a:endParaRPr lang="en-US" sz="1100" dirty="0"/>
          </a:p>
        </p:txBody>
      </p:sp>
      <p:graphicFrame>
        <p:nvGraphicFramePr>
          <p:cNvPr id="5" name="Chart 0"/>
          <p:cNvGraphicFramePr/>
          <p:nvPr/>
        </p:nvGraphicFramePr>
        <p:xfrm>
          <a:off x="548640" y="1325880"/>
          <a:ext cx="475488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bon chart card"/>
          <p:cNvSpPr/>
          <p:nvPr/>
        </p:nvSpPr>
        <p:spPr>
          <a:xfrm>
            <a:off x="5577840" y="914400"/>
            <a:ext cx="3108960" cy="3063240"/>
          </a:xfrm>
          <a:prstGeom prst="roundRect">
            <a:avLst>
              <a:gd name="adj" fmla="val 2388"/>
            </a:avLst>
          </a:prstGeom>
          <a:solidFill>
            <a:schemeClr val="bg1"/>
          </a:solidFill>
          <a:ln w="12700">
            <a:solidFill>
              <a:schemeClr val="accent5"/>
            </a:solidFill>
            <a:prstDash val="solid"/>
          </a:ln>
          <a:effectLst>
            <a:outerShdw blurRad="76200" dist="25400" dir="5400000" algn="bl" rotWithShape="0">
              <a:srgbClr val="0A1F1C">
                <a:alpha val="12000"/>
              </a:srgbClr>
            </a:outerShdw>
          </a:effectLst>
        </p:spPr>
      </p:sp>
      <p:sp>
        <p:nvSpPr>
          <p:cNvPr id="7" name="Text 4"/>
          <p:cNvSpPr txBox="1"/>
          <p:nvPr/>
        </p:nvSpPr>
        <p:spPr>
          <a:xfrm>
            <a:off x="5760720" y="1005840"/>
            <a:ext cx="2743200" cy="274320"/>
          </a:xfrm>
          <a:prstGeom prst="rect">
            <a:avLst/>
          </a:prstGeom>
          <a:noFill/>
          <a:ln/>
        </p:spPr>
        <p:txBody>
          <a:bodyPr wrap="square" lIns="0" tIns="0" rIns="0" bIns="0" rtlCol="0" anchor="t"/>
          <a:lstStyle/>
          <a:p>
            <a:pPr marL="0" indent="0">
              <a:buNone/>
            </a:pPr>
            <a:r>
              <a:rPr lang="en-US" sz="1100" b="1" dirty="0">
                <a:solidFill>
                  <a:schemeClr val="tx2"/>
                </a:solidFill>
              </a:rPr>
              <a:t>Track 05: baseline 2,370 MT CO2e</a:t>
            </a:r>
            <a:endParaRPr lang="en-US" sz="1100" dirty="0"/>
          </a:p>
        </p:txBody>
      </p:sp>
      <p:graphicFrame>
        <p:nvGraphicFramePr>
          <p:cNvPr id="8" name="Chart 1"/>
          <p:cNvGraphicFramePr/>
          <p:nvPr/>
        </p:nvGraphicFramePr>
        <p:xfrm>
          <a:off x="5669280" y="1325880"/>
          <a:ext cx="292608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9" name="Note tile 1"/>
          <p:cNvSpPr/>
          <p:nvPr/>
        </p:nvSpPr>
        <p:spPr>
          <a:xfrm>
            <a:off x="457200" y="4114800"/>
            <a:ext cx="2560320" cy="640080"/>
          </a:xfrm>
          <a:prstGeom prst="roundRect">
            <a:avLst>
              <a:gd name="adj" fmla="val 8571"/>
            </a:avLst>
          </a:prstGeom>
          <a:solidFill>
            <a:schemeClr val="accent5"/>
          </a:solidFill>
          <a:ln/>
        </p:spPr>
      </p:sp>
      <p:sp>
        <p:nvSpPr>
          <p:cNvPr id="10" name="Text 6"/>
          <p:cNvSpPr txBox="1"/>
          <p:nvPr/>
        </p:nvSpPr>
        <p:spPr>
          <a:xfrm>
            <a:off x="566928" y="4114800"/>
            <a:ext cx="2359152" cy="640080"/>
          </a:xfrm>
          <a:prstGeom prst="rect">
            <a:avLst/>
          </a:prstGeom>
          <a:noFill/>
          <a:ln/>
        </p:spPr>
        <p:txBody>
          <a:bodyPr wrap="square" lIns="0" tIns="0" rIns="0" bIns="0" rtlCol="0" anchor="ctr"/>
          <a:lstStyle/>
          <a:p>
            <a:pPr marL="0" indent="0">
              <a:buNone/>
            </a:pPr>
            <a:r>
              <a:rPr lang="en-US" sz="1000" b="1" dirty="0">
                <a:solidFill>
                  <a:schemeClr val="accent1"/>
                </a:solidFill>
              </a:rPr>
              <a:t>Energy levers:</a:t>
            </a:r>
            <a:r>
              <a:rPr lang="en-US" sz="1000" dirty="0">
                <a:solidFill>
                  <a:schemeClr val="tx2"/>
                </a:solidFill>
              </a:rPr>
              <a:t> LED retrofit, HVAC deadband, motion sensors (capped at 38% savings)</a:t>
            </a:r>
            <a:endParaRPr lang="en-US" sz="1000" dirty="0"/>
          </a:p>
        </p:txBody>
      </p:sp>
      <p:sp>
        <p:nvSpPr>
          <p:cNvPr id="11" name="Note tile 2"/>
          <p:cNvSpPr/>
          <p:nvPr/>
        </p:nvSpPr>
        <p:spPr>
          <a:xfrm>
            <a:off x="3291840" y="4114800"/>
            <a:ext cx="2560320" cy="640080"/>
          </a:xfrm>
          <a:prstGeom prst="roundRect">
            <a:avLst>
              <a:gd name="adj" fmla="val 8571"/>
            </a:avLst>
          </a:prstGeom>
          <a:solidFill>
            <a:schemeClr val="accent5"/>
          </a:solidFill>
          <a:ln/>
        </p:spPr>
      </p:sp>
      <p:sp>
        <p:nvSpPr>
          <p:cNvPr id="12" name="Text 8"/>
          <p:cNvSpPr txBox="1"/>
          <p:nvPr/>
        </p:nvSpPr>
        <p:spPr>
          <a:xfrm>
            <a:off x="3401568" y="4114800"/>
            <a:ext cx="2359152" cy="640080"/>
          </a:xfrm>
          <a:prstGeom prst="rect">
            <a:avLst/>
          </a:prstGeom>
          <a:noFill/>
          <a:ln/>
        </p:spPr>
        <p:txBody>
          <a:bodyPr wrap="square" lIns="0" tIns="0" rIns="0" bIns="0" rtlCol="0" anchor="ctr"/>
          <a:lstStyle/>
          <a:p>
            <a:pPr marL="0" indent="0">
              <a:buNone/>
            </a:pPr>
            <a:r>
              <a:rPr lang="en-US" sz="1000" b="1" dirty="0">
                <a:solidFill>
                  <a:schemeClr val="accent1"/>
                </a:solidFill>
              </a:rPr>
              <a:t>Carbon levers:</a:t>
            </a:r>
            <a:r>
              <a:rPr lang="en-US" sz="1000" dirty="0">
                <a:solidFill>
                  <a:schemeClr val="tx2"/>
                </a:solidFill>
              </a:rPr>
              <a:t> Solar PPA, EV shuttles, compost diversion, boiler efficiency</a:t>
            </a:r>
            <a:endParaRPr lang="en-US" sz="1000" dirty="0"/>
          </a:p>
        </p:txBody>
      </p:sp>
      <p:sp>
        <p:nvSpPr>
          <p:cNvPr id="13" name="Note tile 3"/>
          <p:cNvSpPr/>
          <p:nvPr/>
        </p:nvSpPr>
        <p:spPr>
          <a:xfrm>
            <a:off x="6126480" y="4114800"/>
            <a:ext cx="2560320" cy="640080"/>
          </a:xfrm>
          <a:prstGeom prst="roundRect">
            <a:avLst>
              <a:gd name="adj" fmla="val 8571"/>
            </a:avLst>
          </a:prstGeom>
          <a:solidFill>
            <a:schemeClr val="accent5"/>
          </a:solidFill>
          <a:ln/>
        </p:spPr>
      </p:sp>
      <p:sp>
        <p:nvSpPr>
          <p:cNvPr id="14" name="Text 10"/>
          <p:cNvSpPr txBox="1"/>
          <p:nvPr/>
        </p:nvSpPr>
        <p:spPr>
          <a:xfrm>
            <a:off x="6236208" y="4114800"/>
            <a:ext cx="2359152" cy="640080"/>
          </a:xfrm>
          <a:prstGeom prst="rect">
            <a:avLst/>
          </a:prstGeom>
          <a:noFill/>
          <a:ln/>
        </p:spPr>
        <p:txBody>
          <a:bodyPr wrap="square" lIns="0" tIns="0" rIns="0" bIns="0" rtlCol="0" anchor="ctr"/>
          <a:lstStyle/>
          <a:p>
            <a:pPr marL="0" indent="0">
              <a:buNone/>
            </a:pPr>
            <a:r>
              <a:rPr lang="en-US" sz="1000" b="1" dirty="0">
                <a:solidFill>
                  <a:schemeClr val="accent1"/>
                </a:solidFill>
              </a:rPr>
              <a:t>Inputs:</a:t>
            </a:r>
            <a:r>
              <a:rPr lang="en-US" sz="1000" dirty="0">
                <a:solidFill>
                  <a:schemeClr val="tx2"/>
                </a:solidFill>
              </a:rPr>
              <a:t> Simulated baselines; factors from EPA eGRID, IPCC, EPA WARM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Architecture and stack</a:t>
            </a:r>
            <a:endParaRPr lang="en-US" sz="2600" dirty="0"/>
          </a:p>
        </p:txBody>
      </p:sp>
      <p:sp>
        <p:nvSpPr>
          <p:cNvPr id="3" name="Text 1"/>
          <p:cNvSpPr txBox="1"/>
          <p:nvPr/>
        </p:nvSpPr>
        <p:spPr>
          <a:xfrm>
            <a:off x="457200" y="896112"/>
            <a:ext cx="365760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WORKING IN THE DEMO</a:t>
            </a:r>
            <a:endParaRPr lang="en-US" sz="900" dirty="0"/>
          </a:p>
        </p:txBody>
      </p:sp>
      <p:sp>
        <p:nvSpPr>
          <p:cNvPr id="4" name="Arch 3 roles"/>
          <p:cNvSpPr/>
          <p:nvPr/>
        </p:nvSpPr>
        <p:spPr>
          <a:xfrm>
            <a:off x="457200" y="1170432"/>
            <a:ext cx="1691640" cy="914400"/>
          </a:xfrm>
          <a:prstGeom prst="roundRect">
            <a:avLst>
              <a:gd name="adj" fmla="val 8000"/>
            </a:avLst>
          </a:prstGeom>
          <a:solidFill>
            <a:schemeClr val="accent5"/>
          </a:solidFill>
          <a:ln/>
        </p:spPr>
      </p:sp>
      <p:sp>
        <p:nvSpPr>
          <p:cNvPr id="5" name="Text 3"/>
          <p:cNvSpPr txBox="1"/>
          <p:nvPr/>
        </p:nvSpPr>
        <p:spPr>
          <a:xfrm>
            <a:off x="548640" y="1225296"/>
            <a:ext cx="1508760" cy="274320"/>
          </a:xfrm>
          <a:prstGeom prst="rect">
            <a:avLst/>
          </a:prstGeom>
          <a:noFill/>
          <a:ln/>
        </p:spPr>
        <p:txBody>
          <a:bodyPr wrap="square" lIns="0" tIns="0" rIns="0" bIns="0" rtlCol="0" anchor="ctr"/>
          <a:lstStyle/>
          <a:p>
            <a:pPr marL="0" indent="0" algn="ctr">
              <a:buNone/>
            </a:pPr>
            <a:r>
              <a:rPr lang="en-US" sz="1150" b="1" dirty="0">
                <a:solidFill>
                  <a:schemeClr val="tx2"/>
                </a:solidFill>
              </a:rPr>
              <a:t>3 roles</a:t>
            </a:r>
            <a:endParaRPr lang="en-US" sz="1150" dirty="0"/>
          </a:p>
        </p:txBody>
      </p:sp>
      <p:sp>
        <p:nvSpPr>
          <p:cNvPr id="6" name="Text 4"/>
          <p:cNvSpPr txBox="1"/>
          <p:nvPr/>
        </p:nvSpPr>
        <p:spPr>
          <a:xfrm>
            <a:off x="548640" y="1517904"/>
            <a:ext cx="1508760" cy="530352"/>
          </a:xfrm>
          <a:prstGeom prst="rect">
            <a:avLst/>
          </a:prstGeom>
          <a:noFill/>
          <a:ln/>
        </p:spPr>
        <p:txBody>
          <a:bodyPr wrap="square" lIns="0" tIns="0" rIns="0" bIns="0" rtlCol="0" anchor="t"/>
          <a:lstStyle/>
          <a:p>
            <a:pPr marL="0" indent="0" algn="ctr">
              <a:buNone/>
            </a:pPr>
            <a:r>
              <a:rPr lang="en-US" sz="1000" dirty="0">
                <a:solidFill>
                  <a:schemeClr val="accent6"/>
                </a:solidFill>
              </a:rPr>
              <a:t>Student, Technician, Admin via one-click login</a:t>
            </a:r>
            <a:endParaRPr lang="en-US" sz="1000" dirty="0"/>
          </a:p>
        </p:txBody>
      </p:sp>
      <p:sp>
        <p:nvSpPr>
          <p:cNvPr id="7" name="Text 5"/>
          <p:cNvSpPr txBox="1"/>
          <p:nvPr/>
        </p:nvSpPr>
        <p:spPr>
          <a:xfrm>
            <a:off x="2148840" y="1371600"/>
            <a:ext cx="228600" cy="457200"/>
          </a:xfrm>
          <a:prstGeom prst="rect">
            <a:avLst/>
          </a:prstGeom>
          <a:noFill/>
          <a:ln/>
        </p:spPr>
        <p:txBody>
          <a:bodyPr wrap="square" lIns="0" tIns="0" rIns="0" bIns="0" rtlCol="0" anchor="ctr"/>
          <a:lstStyle/>
          <a:p>
            <a:pPr marL="0" indent="0" algn="ctr">
              <a:buNone/>
            </a:pPr>
            <a:r>
              <a:rPr lang="en-US" sz="1800" dirty="0">
                <a:solidFill>
                  <a:schemeClr val="accent6"/>
                </a:solidFill>
              </a:rPr>
              <a:t>→</a:t>
            </a:r>
            <a:endParaRPr lang="en-US" sz="1800" dirty="0"/>
          </a:p>
        </p:txBody>
      </p:sp>
      <p:sp>
        <p:nvSpPr>
          <p:cNvPr id="8" name="Arch React 18 + TypeScript"/>
          <p:cNvSpPr/>
          <p:nvPr/>
        </p:nvSpPr>
        <p:spPr>
          <a:xfrm>
            <a:off x="2377440" y="1170432"/>
            <a:ext cx="1691640" cy="914400"/>
          </a:xfrm>
          <a:prstGeom prst="roundRect">
            <a:avLst>
              <a:gd name="adj" fmla="val 8000"/>
            </a:avLst>
          </a:prstGeom>
          <a:solidFill>
            <a:schemeClr val="tx1"/>
          </a:solidFill>
          <a:ln/>
        </p:spPr>
      </p:sp>
      <p:sp>
        <p:nvSpPr>
          <p:cNvPr id="9" name="Text 7"/>
          <p:cNvSpPr txBox="1"/>
          <p:nvPr/>
        </p:nvSpPr>
        <p:spPr>
          <a:xfrm>
            <a:off x="2468880" y="1225296"/>
            <a:ext cx="1508760" cy="274320"/>
          </a:xfrm>
          <a:prstGeom prst="rect">
            <a:avLst/>
          </a:prstGeom>
          <a:noFill/>
          <a:ln/>
        </p:spPr>
        <p:txBody>
          <a:bodyPr wrap="square" lIns="0" tIns="0" rIns="0" bIns="0" rtlCol="0" anchor="ctr"/>
          <a:lstStyle/>
          <a:p>
            <a:pPr marL="0" indent="0" algn="ctr">
              <a:buNone/>
            </a:pPr>
            <a:r>
              <a:rPr lang="en-US" sz="1150" b="1" dirty="0">
                <a:solidFill>
                  <a:schemeClr val="bg1"/>
                </a:solidFill>
              </a:rPr>
              <a:t>React 18 + TypeScript</a:t>
            </a:r>
            <a:endParaRPr lang="en-US" sz="1150" dirty="0"/>
          </a:p>
        </p:txBody>
      </p:sp>
      <p:sp>
        <p:nvSpPr>
          <p:cNvPr id="10" name="Text 8"/>
          <p:cNvSpPr txBox="1"/>
          <p:nvPr/>
        </p:nvSpPr>
        <p:spPr>
          <a:xfrm>
            <a:off x="2468880" y="1517904"/>
            <a:ext cx="1508760" cy="530352"/>
          </a:xfrm>
          <a:prstGeom prst="rect">
            <a:avLst/>
          </a:prstGeom>
          <a:noFill/>
          <a:ln/>
        </p:spPr>
        <p:txBody>
          <a:bodyPr wrap="square" lIns="0" tIns="0" rIns="0" bIns="0" rtlCol="0" anchor="t"/>
          <a:lstStyle/>
          <a:p>
            <a:pPr marL="0" indent="0" algn="ctr">
              <a:buNone/>
            </a:pPr>
            <a:r>
              <a:rPr lang="en-US" sz="1000" dirty="0">
                <a:solidFill>
                  <a:schemeClr val="accent5"/>
                </a:solidFill>
              </a:rPr>
              <a:t>Vite 5, Tailwind, Router v6, Recharts, Lucide</a:t>
            </a:r>
            <a:endParaRPr lang="en-US" sz="1000" dirty="0"/>
          </a:p>
        </p:txBody>
      </p:sp>
      <p:sp>
        <p:nvSpPr>
          <p:cNvPr id="11" name="Text 9"/>
          <p:cNvSpPr txBox="1"/>
          <p:nvPr/>
        </p:nvSpPr>
        <p:spPr>
          <a:xfrm>
            <a:off x="4069080" y="1371600"/>
            <a:ext cx="228600" cy="457200"/>
          </a:xfrm>
          <a:prstGeom prst="rect">
            <a:avLst/>
          </a:prstGeom>
          <a:noFill/>
          <a:ln/>
        </p:spPr>
        <p:txBody>
          <a:bodyPr wrap="square" lIns="0" tIns="0" rIns="0" bIns="0" rtlCol="0" anchor="ctr"/>
          <a:lstStyle/>
          <a:p>
            <a:pPr marL="0" indent="0" algn="ctr">
              <a:buNone/>
            </a:pPr>
            <a:r>
              <a:rPr lang="en-US" sz="1800" dirty="0">
                <a:solidFill>
                  <a:schemeClr val="accent6"/>
                </a:solidFill>
              </a:rPr>
              <a:t>→</a:t>
            </a:r>
            <a:endParaRPr lang="en-US" sz="1800" dirty="0"/>
          </a:p>
        </p:txBody>
      </p:sp>
      <p:sp>
        <p:nvSpPr>
          <p:cNvPr id="12" name="Arch App state"/>
          <p:cNvSpPr/>
          <p:nvPr/>
        </p:nvSpPr>
        <p:spPr>
          <a:xfrm>
            <a:off x="4297680" y="1170432"/>
            <a:ext cx="1691640" cy="914400"/>
          </a:xfrm>
          <a:prstGeom prst="roundRect">
            <a:avLst>
              <a:gd name="adj" fmla="val 8000"/>
            </a:avLst>
          </a:prstGeom>
          <a:solidFill>
            <a:schemeClr val="accent5"/>
          </a:solidFill>
          <a:ln/>
        </p:spPr>
      </p:sp>
      <p:sp>
        <p:nvSpPr>
          <p:cNvPr id="13" name="Text 11"/>
          <p:cNvSpPr txBox="1"/>
          <p:nvPr/>
        </p:nvSpPr>
        <p:spPr>
          <a:xfrm>
            <a:off x="4389120" y="1225296"/>
            <a:ext cx="1508760" cy="274320"/>
          </a:xfrm>
          <a:prstGeom prst="rect">
            <a:avLst/>
          </a:prstGeom>
          <a:noFill/>
          <a:ln/>
        </p:spPr>
        <p:txBody>
          <a:bodyPr wrap="square" lIns="0" tIns="0" rIns="0" bIns="0" rtlCol="0" anchor="ctr"/>
          <a:lstStyle/>
          <a:p>
            <a:pPr marL="0" indent="0" algn="ctr">
              <a:buNone/>
            </a:pPr>
            <a:r>
              <a:rPr lang="en-US" sz="1150" b="1" dirty="0">
                <a:solidFill>
                  <a:schemeClr val="tx2"/>
                </a:solidFill>
              </a:rPr>
              <a:t>App state</a:t>
            </a:r>
            <a:endParaRPr lang="en-US" sz="1150" dirty="0"/>
          </a:p>
        </p:txBody>
      </p:sp>
      <p:sp>
        <p:nvSpPr>
          <p:cNvPr id="14" name="Text 12"/>
          <p:cNvSpPr txBox="1"/>
          <p:nvPr/>
        </p:nvSpPr>
        <p:spPr>
          <a:xfrm>
            <a:off x="4389120" y="1517904"/>
            <a:ext cx="1508760" cy="530352"/>
          </a:xfrm>
          <a:prstGeom prst="rect">
            <a:avLst/>
          </a:prstGeom>
          <a:noFill/>
          <a:ln/>
        </p:spPr>
        <p:txBody>
          <a:bodyPr wrap="square" lIns="0" tIns="0" rIns="0" bIns="0" rtlCol="0" anchor="t"/>
          <a:lstStyle/>
          <a:p>
            <a:pPr marL="0" indent="0" algn="ctr">
              <a:buNone/>
            </a:pPr>
            <a:r>
              <a:rPr lang="en-US" sz="1000" dirty="0">
                <a:solidFill>
                  <a:schemeClr val="accent6"/>
                </a:solidFill>
              </a:rPr>
              <a:t>React Context, rule-based AI engines, light/dark theme</a:t>
            </a:r>
            <a:endParaRPr lang="en-US" sz="1000" dirty="0"/>
          </a:p>
        </p:txBody>
      </p:sp>
      <p:sp>
        <p:nvSpPr>
          <p:cNvPr id="15" name="Text 13"/>
          <p:cNvSpPr txBox="1"/>
          <p:nvPr/>
        </p:nvSpPr>
        <p:spPr>
          <a:xfrm>
            <a:off x="4297680" y="2103120"/>
            <a:ext cx="1691640" cy="310896"/>
          </a:xfrm>
          <a:prstGeom prst="rect">
            <a:avLst/>
          </a:prstGeom>
          <a:noFill/>
          <a:ln/>
        </p:spPr>
        <p:txBody>
          <a:bodyPr wrap="square" lIns="0" tIns="0" rIns="0" bIns="0" rtlCol="0" anchor="ctr"/>
          <a:lstStyle/>
          <a:p>
            <a:pPr marL="0" indent="0" algn="ctr">
              <a:buNone/>
            </a:pPr>
            <a:r>
              <a:rPr lang="en-US" sz="1800" dirty="0">
                <a:solidFill>
                  <a:schemeClr val="accent6"/>
                </a:solidFill>
              </a:rPr>
              <a:t>↓</a:t>
            </a:r>
            <a:endParaRPr lang="en-US" sz="1800" dirty="0"/>
          </a:p>
        </p:txBody>
      </p:sp>
      <p:sp>
        <p:nvSpPr>
          <p:cNvPr id="16" name="Arch Supabase"/>
          <p:cNvSpPr/>
          <p:nvPr/>
        </p:nvSpPr>
        <p:spPr>
          <a:xfrm>
            <a:off x="2971800" y="2450592"/>
            <a:ext cx="3017520" cy="914400"/>
          </a:xfrm>
          <a:prstGeom prst="roundRect">
            <a:avLst>
              <a:gd name="adj" fmla="val 8000"/>
            </a:avLst>
          </a:prstGeom>
          <a:solidFill>
            <a:schemeClr val="accent2"/>
          </a:solidFill>
          <a:ln/>
        </p:spPr>
      </p:sp>
      <p:sp>
        <p:nvSpPr>
          <p:cNvPr id="17" name="Text 15"/>
          <p:cNvSpPr txBox="1"/>
          <p:nvPr/>
        </p:nvSpPr>
        <p:spPr>
          <a:xfrm>
            <a:off x="3063240" y="2505456"/>
            <a:ext cx="2834640" cy="274320"/>
          </a:xfrm>
          <a:prstGeom prst="rect">
            <a:avLst/>
          </a:prstGeom>
          <a:noFill/>
          <a:ln/>
        </p:spPr>
        <p:txBody>
          <a:bodyPr wrap="square" lIns="0" tIns="0" rIns="0" bIns="0" rtlCol="0" anchor="ctr"/>
          <a:lstStyle/>
          <a:p>
            <a:pPr marL="0" indent="0" algn="ctr">
              <a:buNone/>
            </a:pPr>
            <a:r>
              <a:rPr lang="en-US" sz="1150" b="1" dirty="0">
                <a:solidFill>
                  <a:schemeClr val="tx1"/>
                </a:solidFill>
              </a:rPr>
              <a:t>Supabase (shared cloud data)</a:t>
            </a:r>
            <a:endParaRPr lang="en-US" sz="1150" dirty="0"/>
          </a:p>
        </p:txBody>
      </p:sp>
      <p:sp>
        <p:nvSpPr>
          <p:cNvPr id="18" name="Text 16"/>
          <p:cNvSpPr txBox="1"/>
          <p:nvPr/>
        </p:nvSpPr>
        <p:spPr>
          <a:xfrm>
            <a:off x="3063240" y="2788920"/>
            <a:ext cx="2834640" cy="548640"/>
          </a:xfrm>
          <a:prstGeom prst="rect">
            <a:avLst/>
          </a:prstGeom>
          <a:noFill/>
          <a:ln/>
        </p:spPr>
        <p:txBody>
          <a:bodyPr wrap="square" lIns="0" tIns="0" rIns="0" bIns="0" rtlCol="0" anchor="t"/>
          <a:lstStyle/>
          <a:p>
            <a:pPr marL="0" indent="0" algn="ctr">
              <a:buNone/>
            </a:pPr>
            <a:r>
              <a:rPr lang="en-US" sz="1000" dirty="0">
                <a:solidFill>
                  <a:schemeClr val="tx1"/>
                </a:solidFill>
              </a:rPr>
              <a:t>2 Postgres tables (reports, bins), Realtime channel, public evidence photo bucket</a:t>
            </a:r>
            <a:endParaRPr lang="en-US" sz="1000" dirty="0"/>
          </a:p>
        </p:txBody>
      </p:sp>
      <p:sp>
        <p:nvSpPr>
          <p:cNvPr id="19" name="Arch local fallback"/>
          <p:cNvSpPr/>
          <p:nvPr/>
        </p:nvSpPr>
        <p:spPr>
          <a:xfrm>
            <a:off x="457200" y="2450592"/>
            <a:ext cx="2240280" cy="914400"/>
          </a:xfrm>
          <a:prstGeom prst="roundRect">
            <a:avLst>
              <a:gd name="adj" fmla="val 8000"/>
            </a:avLst>
          </a:prstGeom>
          <a:solidFill>
            <a:schemeClr val="bg1"/>
          </a:solidFill>
          <a:ln w="15875">
            <a:solidFill>
              <a:schemeClr val="accent6"/>
            </a:solidFill>
            <a:prstDash val="dash"/>
          </a:ln>
        </p:spPr>
      </p:sp>
      <p:sp>
        <p:nvSpPr>
          <p:cNvPr id="20" name="Text 18"/>
          <p:cNvSpPr txBox="1"/>
          <p:nvPr/>
        </p:nvSpPr>
        <p:spPr>
          <a:xfrm>
            <a:off x="548640" y="2505456"/>
            <a:ext cx="2057400" cy="274320"/>
          </a:xfrm>
          <a:prstGeom prst="rect">
            <a:avLst/>
          </a:prstGeom>
          <a:noFill/>
          <a:ln/>
        </p:spPr>
        <p:txBody>
          <a:bodyPr wrap="square" lIns="0" tIns="0" rIns="0" bIns="0" rtlCol="0" anchor="ctr"/>
          <a:lstStyle/>
          <a:p>
            <a:pPr marL="0" indent="0" algn="ctr">
              <a:buNone/>
            </a:pPr>
            <a:r>
              <a:rPr lang="en-US" sz="1100" b="1" dirty="0">
                <a:solidFill>
                  <a:schemeClr val="tx2"/>
                </a:solidFill>
              </a:rPr>
              <a:t>Fallback: local demo mode</a:t>
            </a:r>
            <a:endParaRPr lang="en-US" sz="1100" dirty="0"/>
          </a:p>
        </p:txBody>
      </p:sp>
      <p:sp>
        <p:nvSpPr>
          <p:cNvPr id="21" name="Text 19"/>
          <p:cNvSpPr txBox="1"/>
          <p:nvPr/>
        </p:nvSpPr>
        <p:spPr>
          <a:xfrm>
            <a:off x="548640" y="2788920"/>
            <a:ext cx="2057400" cy="548640"/>
          </a:xfrm>
          <a:prstGeom prst="rect">
            <a:avLst/>
          </a:prstGeom>
          <a:noFill/>
          <a:ln/>
        </p:spPr>
        <p:txBody>
          <a:bodyPr wrap="square" lIns="0" tIns="0" rIns="0" bIns="0" rtlCol="0" anchor="t"/>
          <a:lstStyle/>
          <a:p>
            <a:pPr marL="0" indent="0" algn="ctr">
              <a:buNone/>
            </a:pPr>
            <a:r>
              <a:rPr lang="en-US" sz="1000" dirty="0">
                <a:solidFill>
                  <a:schemeClr val="accent6"/>
                </a:solidFill>
              </a:rPr>
              <a:t>If Supabase keys are missing, data stays in browser localStorage</a:t>
            </a:r>
            <a:endParaRPr lang="en-US" sz="1000" dirty="0"/>
          </a:p>
        </p:txBody>
      </p:sp>
      <p:sp>
        <p:nvSpPr>
          <p:cNvPr id="22" name="Text 20"/>
          <p:cNvSpPr txBox="1"/>
          <p:nvPr/>
        </p:nvSpPr>
        <p:spPr>
          <a:xfrm>
            <a:off x="2697480" y="2450592"/>
            <a:ext cx="274320" cy="914400"/>
          </a:xfrm>
          <a:prstGeom prst="rect">
            <a:avLst/>
          </a:prstGeom>
          <a:noFill/>
          <a:ln/>
        </p:spPr>
        <p:txBody>
          <a:bodyPr wrap="square" lIns="0" tIns="0" rIns="0" bIns="0" rtlCol="0" anchor="ctr"/>
          <a:lstStyle/>
          <a:p>
            <a:pPr marL="0" indent="0" algn="ctr">
              <a:buNone/>
            </a:pPr>
            <a:r>
              <a:rPr lang="en-US" sz="1000" i="1" dirty="0">
                <a:solidFill>
                  <a:schemeClr val="accent6"/>
                </a:solidFill>
              </a:rPr>
              <a:t>or</a:t>
            </a:r>
            <a:endParaRPr lang="en-US" sz="1000" dirty="0"/>
          </a:p>
        </p:txBody>
      </p:sp>
      <p:sp>
        <p:nvSpPr>
          <p:cNvPr id="23" name="Text 21"/>
          <p:cNvSpPr txBox="1"/>
          <p:nvPr/>
        </p:nvSpPr>
        <p:spPr>
          <a:xfrm>
            <a:off x="6355080" y="896112"/>
            <a:ext cx="2377440" cy="201168"/>
          </a:xfrm>
          <a:prstGeom prst="rect">
            <a:avLst/>
          </a:prstGeom>
          <a:noFill/>
          <a:ln/>
        </p:spPr>
        <p:txBody>
          <a:bodyPr wrap="square" lIns="0" tIns="0" rIns="0" bIns="0" rtlCol="0" anchor="t"/>
          <a:lstStyle/>
          <a:p>
            <a:pPr marL="0" indent="0">
              <a:buNone/>
            </a:pPr>
            <a:r>
              <a:rPr lang="en-US" sz="900" b="1" kern="0" spc="200" dirty="0">
                <a:solidFill>
                  <a:schemeClr val="accent3"/>
                </a:solidFill>
              </a:rPr>
              <a:t>BUILT, NOT YET WIRED IN</a:t>
            </a:r>
            <a:endParaRPr lang="en-US" sz="900" dirty="0"/>
          </a:p>
        </p:txBody>
      </p:sp>
      <p:sp>
        <p:nvSpPr>
          <p:cNvPr id="24" name="Unwired FastAPI + Pydantic"/>
          <p:cNvSpPr/>
          <p:nvPr/>
        </p:nvSpPr>
        <p:spPr>
          <a:xfrm>
            <a:off x="6355080" y="1170432"/>
            <a:ext cx="2331720" cy="987552"/>
          </a:xfrm>
          <a:prstGeom prst="roundRect">
            <a:avLst>
              <a:gd name="adj" fmla="val 7407"/>
            </a:avLst>
          </a:prstGeom>
          <a:solidFill>
            <a:schemeClr val="bg1"/>
          </a:solidFill>
          <a:ln w="15875">
            <a:solidFill>
              <a:schemeClr val="accent3"/>
            </a:solidFill>
            <a:prstDash val="dash"/>
          </a:ln>
        </p:spPr>
      </p:sp>
      <p:sp>
        <p:nvSpPr>
          <p:cNvPr id="25" name="Text 23"/>
          <p:cNvSpPr txBox="1"/>
          <p:nvPr/>
        </p:nvSpPr>
        <p:spPr>
          <a:xfrm>
            <a:off x="6446520" y="1234440"/>
            <a:ext cx="2148840" cy="256032"/>
          </a:xfrm>
          <a:prstGeom prst="rect">
            <a:avLst/>
          </a:prstGeom>
          <a:noFill/>
          <a:ln/>
        </p:spPr>
        <p:txBody>
          <a:bodyPr wrap="square" lIns="0" tIns="0" rIns="0" bIns="0" rtlCol="0" anchor="ctr"/>
          <a:lstStyle/>
          <a:p>
            <a:pPr marL="0" indent="0" algn="ctr">
              <a:buNone/>
            </a:pPr>
            <a:r>
              <a:rPr lang="en-US" sz="1100" b="1" dirty="0">
                <a:solidFill>
                  <a:schemeClr val="tx2"/>
                </a:solidFill>
              </a:rPr>
              <a:t>FastAPI + Pydantic</a:t>
            </a:r>
            <a:endParaRPr lang="en-US" sz="1100" dirty="0"/>
          </a:p>
        </p:txBody>
      </p:sp>
      <p:sp>
        <p:nvSpPr>
          <p:cNvPr id="26" name="Text 24"/>
          <p:cNvSpPr txBox="1"/>
          <p:nvPr/>
        </p:nvSpPr>
        <p:spPr>
          <a:xfrm>
            <a:off x="6446520" y="1517904"/>
            <a:ext cx="2148840" cy="594360"/>
          </a:xfrm>
          <a:prstGeom prst="rect">
            <a:avLst/>
          </a:prstGeom>
          <a:noFill/>
          <a:ln/>
        </p:spPr>
        <p:txBody>
          <a:bodyPr wrap="square" lIns="0" tIns="0" rIns="0" bIns="0" rtlCol="0" anchor="t"/>
          <a:lstStyle/>
          <a:p>
            <a:pPr marL="0" indent="0" algn="ctr">
              <a:buNone/>
            </a:pPr>
            <a:r>
              <a:rPr lang="en-US" sz="1000" dirty="0">
                <a:solidFill>
                  <a:schemeClr val="accent6"/>
                </a:solidFill>
              </a:rPr>
              <a:t>6 endpoints: reports, status, departments, health, Copilot</a:t>
            </a:r>
            <a:endParaRPr lang="en-US" sz="1000" dirty="0"/>
          </a:p>
        </p:txBody>
      </p:sp>
      <p:sp>
        <p:nvSpPr>
          <p:cNvPr id="27" name="Unwired PostgreSQL schema"/>
          <p:cNvSpPr/>
          <p:nvPr/>
        </p:nvSpPr>
        <p:spPr>
          <a:xfrm>
            <a:off x="6355080" y="2267712"/>
            <a:ext cx="2331720" cy="987552"/>
          </a:xfrm>
          <a:prstGeom prst="roundRect">
            <a:avLst>
              <a:gd name="adj" fmla="val 7407"/>
            </a:avLst>
          </a:prstGeom>
          <a:solidFill>
            <a:schemeClr val="bg1"/>
          </a:solidFill>
          <a:ln w="15875">
            <a:solidFill>
              <a:schemeClr val="accent3"/>
            </a:solidFill>
            <a:prstDash val="dash"/>
          </a:ln>
        </p:spPr>
      </p:sp>
      <p:sp>
        <p:nvSpPr>
          <p:cNvPr id="28" name="Text 26"/>
          <p:cNvSpPr txBox="1"/>
          <p:nvPr/>
        </p:nvSpPr>
        <p:spPr>
          <a:xfrm>
            <a:off x="6446520" y="2331720"/>
            <a:ext cx="2148840" cy="256032"/>
          </a:xfrm>
          <a:prstGeom prst="rect">
            <a:avLst/>
          </a:prstGeom>
          <a:noFill/>
          <a:ln/>
        </p:spPr>
        <p:txBody>
          <a:bodyPr wrap="square" lIns="0" tIns="0" rIns="0" bIns="0" rtlCol="0" anchor="ctr"/>
          <a:lstStyle/>
          <a:p>
            <a:pPr marL="0" indent="0" algn="ctr">
              <a:buNone/>
            </a:pPr>
            <a:r>
              <a:rPr lang="en-US" sz="1100" b="1" dirty="0">
                <a:solidFill>
                  <a:schemeClr val="tx2"/>
                </a:solidFill>
              </a:rPr>
              <a:t>PostgreSQL schema</a:t>
            </a:r>
            <a:endParaRPr lang="en-US" sz="1100" dirty="0"/>
          </a:p>
        </p:txBody>
      </p:sp>
      <p:sp>
        <p:nvSpPr>
          <p:cNvPr id="29" name="Text 27"/>
          <p:cNvSpPr txBox="1"/>
          <p:nvPr/>
        </p:nvSpPr>
        <p:spPr>
          <a:xfrm>
            <a:off x="6446520" y="2615184"/>
            <a:ext cx="2148840" cy="594360"/>
          </a:xfrm>
          <a:prstGeom prst="rect">
            <a:avLst/>
          </a:prstGeom>
          <a:noFill/>
          <a:ln/>
        </p:spPr>
        <p:txBody>
          <a:bodyPr wrap="square" lIns="0" tIns="0" rIns="0" bIns="0" rtlCol="0" anchor="t"/>
          <a:lstStyle/>
          <a:p>
            <a:pPr marL="0" indent="0" algn="ctr">
              <a:buNone/>
            </a:pPr>
            <a:r>
              <a:rPr lang="en-US" sz="1000" dirty="0">
                <a:solidFill>
                  <a:schemeClr val="accent6"/>
                </a:solidFill>
              </a:rPr>
              <a:t>15 legacy tables; the live demo uses the 2 Supabase tables instead</a:t>
            </a:r>
            <a:endParaRPr lang="en-US" sz="1000" dirty="0"/>
          </a:p>
        </p:txBody>
      </p:sp>
      <p:sp>
        <p:nvSpPr>
          <p:cNvPr id="30" name="Text 28"/>
          <p:cNvSpPr txBox="1"/>
          <p:nvPr/>
        </p:nvSpPr>
        <p:spPr>
          <a:xfrm>
            <a:off x="6355080" y="3310128"/>
            <a:ext cx="237744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DEPLOYED ON</a:t>
            </a:r>
            <a:endParaRPr lang="en-US" sz="900" dirty="0"/>
          </a:p>
        </p:txBody>
      </p:sp>
      <p:sp>
        <p:nvSpPr>
          <p:cNvPr id="31" name="Text 29"/>
          <p:cNvSpPr txBox="1"/>
          <p:nvPr/>
        </p:nvSpPr>
        <p:spPr>
          <a:xfrm>
            <a:off x="6355080" y="3547872"/>
            <a:ext cx="2331720" cy="457200"/>
          </a:xfrm>
          <a:prstGeom prst="rect">
            <a:avLst/>
          </a:prstGeom>
          <a:noFill/>
          <a:ln/>
        </p:spPr>
        <p:txBody>
          <a:bodyPr wrap="square" lIns="0" tIns="0" rIns="0" bIns="0" rtlCol="0" anchor="t"/>
          <a:lstStyle/>
          <a:p>
            <a:pPr marL="0" indent="0">
              <a:buNone/>
            </a:pPr>
            <a:r>
              <a:rPr lang="en-US" sz="1000" dirty="0">
                <a:solidFill>
                  <a:schemeClr val="accent6"/>
                </a:solidFill>
              </a:rPr>
              <a:t>Vercel (Vite build), with Supabase keys supplied as environment variables</a:t>
            </a:r>
            <a:endParaRPr lang="en-US" sz="1000" dirty="0"/>
          </a:p>
        </p:txBody>
      </p:sp>
      <p:sp>
        <p:nvSpPr>
          <p:cNvPr id="32" name="Text 30"/>
          <p:cNvSpPr txBox="1"/>
          <p:nvPr/>
        </p:nvSpPr>
        <p:spPr>
          <a:xfrm>
            <a:off x="457200" y="3547872"/>
            <a:ext cx="4572000" cy="201168"/>
          </a:xfrm>
          <a:prstGeom prst="rect">
            <a:avLst/>
          </a:prstGeom>
          <a:noFill/>
          <a:ln/>
        </p:spPr>
        <p:txBody>
          <a:bodyPr wrap="square" lIns="0" tIns="0" rIns="0" bIns="0" rtlCol="0" anchor="t"/>
          <a:lstStyle/>
          <a:p>
            <a:pPr marL="0" indent="0">
              <a:buNone/>
            </a:pPr>
            <a:r>
              <a:rPr lang="en-US" sz="900" b="1" kern="0" spc="200" dirty="0">
                <a:solidFill>
                  <a:schemeClr val="accent1"/>
                </a:solidFill>
              </a:rPr>
              <a:t>DESIGN CHOICES THAT MATTER</a:t>
            </a:r>
            <a:endParaRPr lang="en-US" sz="900" dirty="0"/>
          </a:p>
        </p:txBody>
      </p:sp>
      <p:sp>
        <p:nvSpPr>
          <p:cNvPr id="33" name="Design num 1"/>
          <p:cNvSpPr/>
          <p:nvPr/>
        </p:nvSpPr>
        <p:spPr>
          <a:xfrm>
            <a:off x="457200" y="3794760"/>
            <a:ext cx="256032" cy="256032"/>
          </a:xfrm>
          <a:prstGeom prst="ellipse">
            <a:avLst/>
          </a:prstGeom>
          <a:solidFill>
            <a:schemeClr val="accent2"/>
          </a:solidFill>
          <a:ln/>
        </p:spPr>
      </p:sp>
      <p:sp>
        <p:nvSpPr>
          <p:cNvPr id="34" name="Text 32"/>
          <p:cNvSpPr txBox="1"/>
          <p:nvPr/>
        </p:nvSpPr>
        <p:spPr>
          <a:xfrm>
            <a:off x="457200" y="3794760"/>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35" name="Text 33"/>
          <p:cNvSpPr txBox="1"/>
          <p:nvPr/>
        </p:nvSpPr>
        <p:spPr>
          <a:xfrm>
            <a:off x="841248" y="3794760"/>
            <a:ext cx="7772400" cy="256032"/>
          </a:xfrm>
          <a:prstGeom prst="rect">
            <a:avLst/>
          </a:prstGeom>
          <a:noFill/>
          <a:ln/>
        </p:spPr>
        <p:txBody>
          <a:bodyPr wrap="square" lIns="0" tIns="0" rIns="0" bIns="0" rtlCol="0" anchor="ctr"/>
          <a:lstStyle/>
          <a:p>
            <a:pPr marL="0" indent="0">
              <a:buNone/>
            </a:pPr>
            <a:r>
              <a:rPr lang="en-US" sz="1100" dirty="0">
                <a:solidFill>
                  <a:schemeClr val="tx2"/>
                </a:solidFill>
              </a:rPr>
              <a:t>One typed report model (9 statuses, 6 categories) drives every track</a:t>
            </a:r>
            <a:endParaRPr lang="en-US" sz="1100" dirty="0"/>
          </a:p>
        </p:txBody>
      </p:sp>
      <p:sp>
        <p:nvSpPr>
          <p:cNvPr id="36" name="Design num 2"/>
          <p:cNvSpPr/>
          <p:nvPr/>
        </p:nvSpPr>
        <p:spPr>
          <a:xfrm>
            <a:off x="457200" y="4123944"/>
            <a:ext cx="256032" cy="256032"/>
          </a:xfrm>
          <a:prstGeom prst="ellipse">
            <a:avLst/>
          </a:prstGeom>
          <a:solidFill>
            <a:schemeClr val="accent2"/>
          </a:solidFill>
          <a:ln/>
        </p:spPr>
      </p:sp>
      <p:sp>
        <p:nvSpPr>
          <p:cNvPr id="37" name="Text 35"/>
          <p:cNvSpPr txBox="1"/>
          <p:nvPr/>
        </p:nvSpPr>
        <p:spPr>
          <a:xfrm>
            <a:off x="457200" y="4123944"/>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2</a:t>
            </a:r>
            <a:endParaRPr lang="en-US" sz="1000" dirty="0"/>
          </a:p>
        </p:txBody>
      </p:sp>
      <p:sp>
        <p:nvSpPr>
          <p:cNvPr id="38" name="Text 36"/>
          <p:cNvSpPr txBox="1"/>
          <p:nvPr/>
        </p:nvSpPr>
        <p:spPr>
          <a:xfrm>
            <a:off x="841248" y="4123944"/>
            <a:ext cx="7772400" cy="256032"/>
          </a:xfrm>
          <a:prstGeom prst="rect">
            <a:avLst/>
          </a:prstGeom>
          <a:noFill/>
          <a:ln/>
        </p:spPr>
        <p:txBody>
          <a:bodyPr wrap="square" lIns="0" tIns="0" rIns="0" bIns="0" rtlCol="0" anchor="ctr"/>
          <a:lstStyle/>
          <a:p>
            <a:pPr marL="0" indent="0">
              <a:buNone/>
            </a:pPr>
            <a:r>
              <a:rPr lang="en-US" sz="1100" dirty="0">
                <a:solidFill>
                  <a:schemeClr val="tx2"/>
                </a:solidFill>
              </a:rPr>
              <a:t>Routing is a rule table, so departments are configurable, not hard-coded</a:t>
            </a:r>
            <a:endParaRPr lang="en-US" sz="1100" dirty="0"/>
          </a:p>
        </p:txBody>
      </p:sp>
      <p:sp>
        <p:nvSpPr>
          <p:cNvPr id="39" name="Design num 3"/>
          <p:cNvSpPr/>
          <p:nvPr/>
        </p:nvSpPr>
        <p:spPr>
          <a:xfrm>
            <a:off x="457200" y="4453128"/>
            <a:ext cx="256032" cy="256032"/>
          </a:xfrm>
          <a:prstGeom prst="ellipse">
            <a:avLst/>
          </a:prstGeom>
          <a:solidFill>
            <a:schemeClr val="accent2"/>
          </a:solidFill>
          <a:ln/>
        </p:spPr>
      </p:sp>
      <p:sp>
        <p:nvSpPr>
          <p:cNvPr id="40" name="Text 38"/>
          <p:cNvSpPr txBox="1"/>
          <p:nvPr/>
        </p:nvSpPr>
        <p:spPr>
          <a:xfrm>
            <a:off x="457200" y="4453128"/>
            <a:ext cx="256032" cy="256032"/>
          </a:xfrm>
          <a:prstGeom prst="rect">
            <a:avLst/>
          </a:prstGeom>
          <a:noFill/>
          <a:ln/>
        </p:spPr>
        <p:txBody>
          <a:bodyPr wrap="square" lIns="0" tIns="0" rIns="0" bIns="0" rtlCol="0" anchor="ctr"/>
          <a:lstStyle/>
          <a:p>
            <a:pPr marL="0" indent="0" algn="ctr">
              <a:buNone/>
            </a:pPr>
            <a:r>
              <a:rPr lang="en-US" sz="1000" b="1" dirty="0">
                <a:solidFill>
                  <a:schemeClr val="bg1"/>
                </a:solidFill>
              </a:rPr>
              <a:t>3</a:t>
            </a:r>
            <a:endParaRPr lang="en-US" sz="1000" dirty="0"/>
          </a:p>
        </p:txBody>
      </p:sp>
      <p:sp>
        <p:nvSpPr>
          <p:cNvPr id="41" name="Text 39"/>
          <p:cNvSpPr txBox="1"/>
          <p:nvPr/>
        </p:nvSpPr>
        <p:spPr>
          <a:xfrm>
            <a:off x="841248" y="4453128"/>
            <a:ext cx="7772400" cy="256032"/>
          </a:xfrm>
          <a:prstGeom prst="rect">
            <a:avLst/>
          </a:prstGeom>
          <a:noFill/>
          <a:ln/>
        </p:spPr>
        <p:txBody>
          <a:bodyPr wrap="square" lIns="0" tIns="0" rIns="0" bIns="0" rtlCol="0" anchor="ctr"/>
          <a:lstStyle/>
          <a:p>
            <a:pPr marL="0" indent="0">
              <a:buNone/>
            </a:pPr>
            <a:r>
              <a:rPr lang="en-US" sz="1100" dirty="0">
                <a:solidFill>
                  <a:schemeClr val="tx2"/>
                </a:solidFill>
              </a:rPr>
              <a:t>Writes are serialized per record, with a visible sync status: local, connecting, live or error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tx2"/>
                </a:solidFill>
              </a:rPr>
              <a:t>Judge walkthrough: five minutes</a:t>
            </a:r>
            <a:endParaRPr lang="en-US" sz="2600" dirty="0"/>
          </a:p>
        </p:txBody>
      </p:sp>
      <p:sp>
        <p:nvSpPr>
          <p:cNvPr id="3" name="Walk card 1"/>
          <p:cNvSpPr/>
          <p:nvPr/>
        </p:nvSpPr>
        <p:spPr>
          <a:xfrm>
            <a:off x="457200" y="960120"/>
            <a:ext cx="1554480" cy="2834640"/>
          </a:xfrm>
          <a:prstGeom prst="roundRect">
            <a:avLst>
              <a:gd name="adj" fmla="val 4706"/>
            </a:avLst>
          </a:prstGeom>
          <a:solidFill>
            <a:schemeClr val="bg1"/>
          </a:solidFill>
          <a:ln/>
          <a:effectLst>
            <a:outerShdw blurRad="76200" dist="25400" dir="5400000" algn="bl" rotWithShape="0">
              <a:srgbClr val="0A1F1C">
                <a:alpha val="12000"/>
              </a:srgbClr>
            </a:outerShdw>
          </a:effectLst>
        </p:spPr>
      </p:sp>
      <p:sp>
        <p:nvSpPr>
          <p:cNvPr id="4" name="Walk Report circle"/>
          <p:cNvSpPr/>
          <p:nvPr/>
        </p:nvSpPr>
        <p:spPr>
          <a:xfrm>
            <a:off x="594360" y="1097280"/>
            <a:ext cx="420624" cy="420624"/>
          </a:xfrm>
          <a:prstGeom prst="ellipse">
            <a:avLst/>
          </a:prstGeom>
          <a:solidFill>
            <a:schemeClr val="accent1"/>
          </a:solidFill>
          <a:ln w="12700">
            <a:solidFill>
              <a:schemeClr val="accent1"/>
            </a:solidFill>
            <a:prstDash val="solid"/>
          </a:ln>
        </p:spPr>
      </p:sp>
      <p:pic>
        <p:nvPicPr>
          <p:cNvPr id="5" name="Walk Report icon" descr="Walk Report"/>
          <p:cNvPicPr>
            <a:picLocks noChangeAspect="1"/>
          </p:cNvPicPr>
          <p:nvPr/>
        </p:nvPicPr>
        <p:blipFill>
          <a:blip r:embed="rId3"/>
          <a:stretch>
            <a:fillRect/>
          </a:stretch>
        </p:blipFill>
        <p:spPr>
          <a:xfrm>
            <a:off x="699516" y="1202436"/>
            <a:ext cx="210312" cy="210312"/>
          </a:xfrm>
          <a:prstGeom prst="rect">
            <a:avLst/>
          </a:prstGeom>
        </p:spPr>
      </p:pic>
      <p:sp>
        <p:nvSpPr>
          <p:cNvPr id="6" name="Text 3"/>
          <p:cNvSpPr txBox="1"/>
          <p:nvPr/>
        </p:nvSpPr>
        <p:spPr>
          <a:xfrm>
            <a:off x="1508760" y="1051560"/>
            <a:ext cx="365760" cy="45720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1</a:t>
            </a:r>
            <a:endParaRPr lang="en-US" sz="2200" dirty="0"/>
          </a:p>
        </p:txBody>
      </p:sp>
      <p:sp>
        <p:nvSpPr>
          <p:cNvPr id="7" name="Text 4"/>
          <p:cNvSpPr txBox="1"/>
          <p:nvPr/>
        </p:nvSpPr>
        <p:spPr>
          <a:xfrm>
            <a:off x="594360" y="1664208"/>
            <a:ext cx="1280160" cy="274320"/>
          </a:xfrm>
          <a:prstGeom prst="rect">
            <a:avLst/>
          </a:prstGeom>
          <a:noFill/>
          <a:ln/>
        </p:spPr>
        <p:txBody>
          <a:bodyPr wrap="square" lIns="0" tIns="0" rIns="0" bIns="0" rtlCol="0" anchor="t"/>
          <a:lstStyle/>
          <a:p>
            <a:pPr marL="0" indent="0">
              <a:buNone/>
            </a:pPr>
            <a:r>
              <a:rPr lang="en-US" sz="1400" b="1" dirty="0">
                <a:solidFill>
                  <a:schemeClr val="tx2"/>
                </a:solidFill>
                <a:latin typeface="+mj-lt" pitchFamily="34" charset="0"/>
                <a:ea typeface="+mj-lt" pitchFamily="34" charset="-122"/>
                <a:cs typeface="+mj-lt" pitchFamily="34" charset="-120"/>
              </a:rPr>
              <a:t>Report</a:t>
            </a:r>
            <a:endParaRPr lang="en-US" sz="1400" dirty="0"/>
          </a:p>
        </p:txBody>
      </p:sp>
      <p:sp>
        <p:nvSpPr>
          <p:cNvPr id="8" name="Text 5"/>
          <p:cNvSpPr txBox="1"/>
          <p:nvPr/>
        </p:nvSpPr>
        <p:spPr>
          <a:xfrm>
            <a:off x="594360" y="2011680"/>
            <a:ext cx="1280160" cy="1691640"/>
          </a:xfrm>
          <a:prstGeom prst="rect">
            <a:avLst/>
          </a:prstGeom>
          <a:noFill/>
          <a:ln/>
        </p:spPr>
        <p:txBody>
          <a:bodyPr wrap="square" lIns="0" tIns="0" rIns="0" bIns="0" rtlCol="0" anchor="t"/>
          <a:lstStyle/>
          <a:p>
            <a:pPr marL="0" indent="0">
              <a:buNone/>
            </a:pPr>
            <a:r>
              <a:rPr lang="en-US" sz="1150" dirty="0">
                <a:solidFill>
                  <a:schemeClr val="accent6"/>
                </a:solidFill>
              </a:rPr>
              <a:t>As Student, open Report, add a photo or sample evidence, submit. Get an ECO ID, CV category and auto-assignment.</a:t>
            </a:r>
            <a:endParaRPr lang="en-US" sz="1150" dirty="0"/>
          </a:p>
        </p:txBody>
      </p:sp>
      <p:sp>
        <p:nvSpPr>
          <p:cNvPr id="9" name="Walk card 2"/>
          <p:cNvSpPr/>
          <p:nvPr/>
        </p:nvSpPr>
        <p:spPr>
          <a:xfrm>
            <a:off x="2125980" y="960120"/>
            <a:ext cx="1554480" cy="2834640"/>
          </a:xfrm>
          <a:prstGeom prst="roundRect">
            <a:avLst>
              <a:gd name="adj" fmla="val 4706"/>
            </a:avLst>
          </a:prstGeom>
          <a:solidFill>
            <a:schemeClr val="bg1"/>
          </a:solidFill>
          <a:ln/>
          <a:effectLst>
            <a:outerShdw blurRad="76200" dist="25400" dir="5400000" algn="bl" rotWithShape="0">
              <a:srgbClr val="0A1F1C">
                <a:alpha val="12000"/>
              </a:srgbClr>
            </a:outerShdw>
          </a:effectLst>
        </p:spPr>
      </p:sp>
      <p:sp>
        <p:nvSpPr>
          <p:cNvPr id="10" name="Walk Fix circle"/>
          <p:cNvSpPr/>
          <p:nvPr/>
        </p:nvSpPr>
        <p:spPr>
          <a:xfrm>
            <a:off x="2263140" y="1097280"/>
            <a:ext cx="420624" cy="420624"/>
          </a:xfrm>
          <a:prstGeom prst="ellipse">
            <a:avLst/>
          </a:prstGeom>
          <a:solidFill>
            <a:schemeClr val="accent1"/>
          </a:solidFill>
          <a:ln w="12700">
            <a:solidFill>
              <a:schemeClr val="accent1"/>
            </a:solidFill>
            <a:prstDash val="solid"/>
          </a:ln>
        </p:spPr>
      </p:sp>
      <p:pic>
        <p:nvPicPr>
          <p:cNvPr id="11" name="Walk Fix icon" descr="Walk Fix"/>
          <p:cNvPicPr>
            <a:picLocks noChangeAspect="1"/>
          </p:cNvPicPr>
          <p:nvPr/>
        </p:nvPicPr>
        <p:blipFill>
          <a:blip r:embed="rId4"/>
          <a:stretch>
            <a:fillRect/>
          </a:stretch>
        </p:blipFill>
        <p:spPr>
          <a:xfrm>
            <a:off x="2368296" y="1202436"/>
            <a:ext cx="210312" cy="210312"/>
          </a:xfrm>
          <a:prstGeom prst="rect">
            <a:avLst/>
          </a:prstGeom>
        </p:spPr>
      </p:pic>
      <p:sp>
        <p:nvSpPr>
          <p:cNvPr id="12" name="Text 8"/>
          <p:cNvSpPr txBox="1"/>
          <p:nvPr/>
        </p:nvSpPr>
        <p:spPr>
          <a:xfrm>
            <a:off x="3177540" y="1051560"/>
            <a:ext cx="365760" cy="45720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2</a:t>
            </a:r>
            <a:endParaRPr lang="en-US" sz="2200" dirty="0"/>
          </a:p>
        </p:txBody>
      </p:sp>
      <p:sp>
        <p:nvSpPr>
          <p:cNvPr id="13" name="Text 9"/>
          <p:cNvSpPr txBox="1"/>
          <p:nvPr/>
        </p:nvSpPr>
        <p:spPr>
          <a:xfrm>
            <a:off x="2263140" y="1664208"/>
            <a:ext cx="1280160" cy="274320"/>
          </a:xfrm>
          <a:prstGeom prst="rect">
            <a:avLst/>
          </a:prstGeom>
          <a:noFill/>
          <a:ln/>
        </p:spPr>
        <p:txBody>
          <a:bodyPr wrap="square" lIns="0" tIns="0" rIns="0" bIns="0" rtlCol="0" anchor="t"/>
          <a:lstStyle/>
          <a:p>
            <a:pPr marL="0" indent="0">
              <a:buNone/>
            </a:pPr>
            <a:r>
              <a:rPr lang="en-US" sz="1400" b="1" dirty="0">
                <a:solidFill>
                  <a:schemeClr val="tx2"/>
                </a:solidFill>
                <a:latin typeface="+mj-lt" pitchFamily="34" charset="0"/>
                <a:ea typeface="+mj-lt" pitchFamily="34" charset="-122"/>
                <a:cs typeface="+mj-lt" pitchFamily="34" charset="-120"/>
              </a:rPr>
              <a:t>Fix</a:t>
            </a:r>
            <a:endParaRPr lang="en-US" sz="1400" dirty="0"/>
          </a:p>
        </p:txBody>
      </p:sp>
      <p:sp>
        <p:nvSpPr>
          <p:cNvPr id="14" name="Text 10"/>
          <p:cNvSpPr txBox="1"/>
          <p:nvPr/>
        </p:nvSpPr>
        <p:spPr>
          <a:xfrm>
            <a:off x="2263140" y="2011680"/>
            <a:ext cx="1280160" cy="1691640"/>
          </a:xfrm>
          <a:prstGeom prst="rect">
            <a:avLst/>
          </a:prstGeom>
          <a:noFill/>
          <a:ln/>
        </p:spPr>
        <p:txBody>
          <a:bodyPr wrap="square" lIns="0" tIns="0" rIns="0" bIns="0" rtlCol="0" anchor="t"/>
          <a:lstStyle/>
          <a:p>
            <a:pPr marL="0" indent="0">
              <a:buNone/>
            </a:pPr>
            <a:r>
              <a:rPr lang="en-US" sz="1150" dirty="0">
                <a:solidFill>
                  <a:schemeClr val="accent6"/>
                </a:solidFill>
              </a:rPr>
              <a:t>Switch to Technician. Acknowledge, Start Work, then Finish Work with a device photo as proof.</a:t>
            </a:r>
            <a:endParaRPr lang="en-US" sz="1150" dirty="0"/>
          </a:p>
        </p:txBody>
      </p:sp>
      <p:sp>
        <p:nvSpPr>
          <p:cNvPr id="15" name="Walk card 3"/>
          <p:cNvSpPr/>
          <p:nvPr/>
        </p:nvSpPr>
        <p:spPr>
          <a:xfrm>
            <a:off x="3794760" y="960120"/>
            <a:ext cx="1554480" cy="2834640"/>
          </a:xfrm>
          <a:prstGeom prst="roundRect">
            <a:avLst>
              <a:gd name="adj" fmla="val 4706"/>
            </a:avLst>
          </a:prstGeom>
          <a:solidFill>
            <a:schemeClr val="bg1"/>
          </a:solidFill>
          <a:ln/>
          <a:effectLst>
            <a:outerShdw blurRad="76200" dist="25400" dir="5400000" algn="bl" rotWithShape="0">
              <a:srgbClr val="0A1F1C">
                <a:alpha val="12000"/>
              </a:srgbClr>
            </a:outerShdw>
          </a:effectLst>
        </p:spPr>
      </p:sp>
      <p:sp>
        <p:nvSpPr>
          <p:cNvPr id="16" name="Walk Verify circle"/>
          <p:cNvSpPr/>
          <p:nvPr/>
        </p:nvSpPr>
        <p:spPr>
          <a:xfrm>
            <a:off x="3931920" y="1097280"/>
            <a:ext cx="420624" cy="420624"/>
          </a:xfrm>
          <a:prstGeom prst="ellipse">
            <a:avLst/>
          </a:prstGeom>
          <a:solidFill>
            <a:schemeClr val="accent1"/>
          </a:solidFill>
          <a:ln w="12700">
            <a:solidFill>
              <a:schemeClr val="accent1"/>
            </a:solidFill>
            <a:prstDash val="solid"/>
          </a:ln>
        </p:spPr>
      </p:sp>
      <p:pic>
        <p:nvPicPr>
          <p:cNvPr id="17" name="Walk Verify icon" descr="Walk Verify"/>
          <p:cNvPicPr>
            <a:picLocks noChangeAspect="1"/>
          </p:cNvPicPr>
          <p:nvPr/>
        </p:nvPicPr>
        <p:blipFill>
          <a:blip r:embed="rId5"/>
          <a:stretch>
            <a:fillRect/>
          </a:stretch>
        </p:blipFill>
        <p:spPr>
          <a:xfrm>
            <a:off x="4037076" y="1202436"/>
            <a:ext cx="210312" cy="210312"/>
          </a:xfrm>
          <a:prstGeom prst="rect">
            <a:avLst/>
          </a:prstGeom>
        </p:spPr>
      </p:pic>
      <p:sp>
        <p:nvSpPr>
          <p:cNvPr id="18" name="Text 13"/>
          <p:cNvSpPr txBox="1"/>
          <p:nvPr/>
        </p:nvSpPr>
        <p:spPr>
          <a:xfrm>
            <a:off x="4846320" y="1051560"/>
            <a:ext cx="365760" cy="45720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3</a:t>
            </a:r>
            <a:endParaRPr lang="en-US" sz="2200" dirty="0"/>
          </a:p>
        </p:txBody>
      </p:sp>
      <p:sp>
        <p:nvSpPr>
          <p:cNvPr id="19" name="Text 14"/>
          <p:cNvSpPr txBox="1"/>
          <p:nvPr/>
        </p:nvSpPr>
        <p:spPr>
          <a:xfrm>
            <a:off x="3931920" y="1664208"/>
            <a:ext cx="1280160" cy="274320"/>
          </a:xfrm>
          <a:prstGeom prst="rect">
            <a:avLst/>
          </a:prstGeom>
          <a:noFill/>
          <a:ln/>
        </p:spPr>
        <p:txBody>
          <a:bodyPr wrap="square" lIns="0" tIns="0" rIns="0" bIns="0" rtlCol="0" anchor="t"/>
          <a:lstStyle/>
          <a:p>
            <a:pPr marL="0" indent="0">
              <a:buNone/>
            </a:pPr>
            <a:r>
              <a:rPr lang="en-US" sz="1400" b="1" dirty="0">
                <a:solidFill>
                  <a:schemeClr val="tx2"/>
                </a:solidFill>
                <a:latin typeface="+mj-lt" pitchFamily="34" charset="0"/>
                <a:ea typeface="+mj-lt" pitchFamily="34" charset="-122"/>
                <a:cs typeface="+mj-lt" pitchFamily="34" charset="-120"/>
              </a:rPr>
              <a:t>Verify</a:t>
            </a:r>
            <a:endParaRPr lang="en-US" sz="1400" dirty="0"/>
          </a:p>
        </p:txBody>
      </p:sp>
      <p:sp>
        <p:nvSpPr>
          <p:cNvPr id="20" name="Text 15"/>
          <p:cNvSpPr txBox="1"/>
          <p:nvPr/>
        </p:nvSpPr>
        <p:spPr>
          <a:xfrm>
            <a:off x="3931920" y="2011680"/>
            <a:ext cx="1280160" cy="1691640"/>
          </a:xfrm>
          <a:prstGeom prst="rect">
            <a:avLst/>
          </a:prstGeom>
          <a:noFill/>
          <a:ln/>
        </p:spPr>
        <p:txBody>
          <a:bodyPr wrap="square" lIns="0" tIns="0" rIns="0" bIns="0" rtlCol="0" anchor="t"/>
          <a:lstStyle/>
          <a:p>
            <a:pPr marL="0" indent="0">
              <a:buNone/>
            </a:pPr>
            <a:r>
              <a:rPr lang="en-US" sz="1150" dirty="0">
                <a:solidFill>
                  <a:schemeClr val="accent6"/>
                </a:solidFill>
              </a:rPr>
              <a:t>Switch to Administrator. Inspect the proof, then Approve to reach RESOLVED, or request rework.</a:t>
            </a:r>
            <a:endParaRPr lang="en-US" sz="1150" dirty="0"/>
          </a:p>
        </p:txBody>
      </p:sp>
      <p:sp>
        <p:nvSpPr>
          <p:cNvPr id="21" name="Walk card 4"/>
          <p:cNvSpPr/>
          <p:nvPr/>
        </p:nvSpPr>
        <p:spPr>
          <a:xfrm>
            <a:off x="5463540" y="960120"/>
            <a:ext cx="1554480" cy="2834640"/>
          </a:xfrm>
          <a:prstGeom prst="roundRect">
            <a:avLst>
              <a:gd name="adj" fmla="val 4706"/>
            </a:avLst>
          </a:prstGeom>
          <a:solidFill>
            <a:schemeClr val="bg1"/>
          </a:solidFill>
          <a:ln/>
          <a:effectLst>
            <a:outerShdw blurRad="76200" dist="25400" dir="5400000" algn="bl" rotWithShape="0">
              <a:srgbClr val="0A1F1C">
                <a:alpha val="12000"/>
              </a:srgbClr>
            </a:outerShdw>
          </a:effectLst>
        </p:spPr>
      </p:sp>
      <p:sp>
        <p:nvSpPr>
          <p:cNvPr id="22" name="Walk Explore circle"/>
          <p:cNvSpPr/>
          <p:nvPr/>
        </p:nvSpPr>
        <p:spPr>
          <a:xfrm>
            <a:off x="5600700" y="1097280"/>
            <a:ext cx="420624" cy="420624"/>
          </a:xfrm>
          <a:prstGeom prst="ellipse">
            <a:avLst/>
          </a:prstGeom>
          <a:solidFill>
            <a:schemeClr val="accent1"/>
          </a:solidFill>
          <a:ln w="12700">
            <a:solidFill>
              <a:schemeClr val="accent1"/>
            </a:solidFill>
            <a:prstDash val="solid"/>
          </a:ln>
        </p:spPr>
      </p:sp>
      <p:pic>
        <p:nvPicPr>
          <p:cNvPr id="23" name="Walk Explore icon" descr="Walk Explore"/>
          <p:cNvPicPr>
            <a:picLocks noChangeAspect="1"/>
          </p:cNvPicPr>
          <p:nvPr/>
        </p:nvPicPr>
        <p:blipFill>
          <a:blip r:embed="rId6"/>
          <a:stretch>
            <a:fillRect/>
          </a:stretch>
        </p:blipFill>
        <p:spPr>
          <a:xfrm>
            <a:off x="5705856" y="1202436"/>
            <a:ext cx="210312" cy="210312"/>
          </a:xfrm>
          <a:prstGeom prst="rect">
            <a:avLst/>
          </a:prstGeom>
        </p:spPr>
      </p:pic>
      <p:sp>
        <p:nvSpPr>
          <p:cNvPr id="24" name="Text 18"/>
          <p:cNvSpPr txBox="1"/>
          <p:nvPr/>
        </p:nvSpPr>
        <p:spPr>
          <a:xfrm>
            <a:off x="6515100" y="1051560"/>
            <a:ext cx="365760" cy="45720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4</a:t>
            </a:r>
            <a:endParaRPr lang="en-US" sz="2200" dirty="0"/>
          </a:p>
        </p:txBody>
      </p:sp>
      <p:sp>
        <p:nvSpPr>
          <p:cNvPr id="25" name="Text 19"/>
          <p:cNvSpPr txBox="1"/>
          <p:nvPr/>
        </p:nvSpPr>
        <p:spPr>
          <a:xfrm>
            <a:off x="5600700" y="1664208"/>
            <a:ext cx="1280160" cy="274320"/>
          </a:xfrm>
          <a:prstGeom prst="rect">
            <a:avLst/>
          </a:prstGeom>
          <a:noFill/>
          <a:ln/>
        </p:spPr>
        <p:txBody>
          <a:bodyPr wrap="square" lIns="0" tIns="0" rIns="0" bIns="0" rtlCol="0" anchor="t"/>
          <a:lstStyle/>
          <a:p>
            <a:pPr marL="0" indent="0">
              <a:buNone/>
            </a:pPr>
            <a:r>
              <a:rPr lang="en-US" sz="1400" b="1" dirty="0">
                <a:solidFill>
                  <a:schemeClr val="tx2"/>
                </a:solidFill>
                <a:latin typeface="+mj-lt" pitchFamily="34" charset="0"/>
                <a:ea typeface="+mj-lt" pitchFamily="34" charset="-122"/>
                <a:cs typeface="+mj-lt" pitchFamily="34" charset="-120"/>
              </a:rPr>
              <a:t>Explore</a:t>
            </a:r>
            <a:endParaRPr lang="en-US" sz="1400" dirty="0"/>
          </a:p>
        </p:txBody>
      </p:sp>
      <p:sp>
        <p:nvSpPr>
          <p:cNvPr id="26" name="Text 20"/>
          <p:cNvSpPr txBox="1"/>
          <p:nvPr/>
        </p:nvSpPr>
        <p:spPr>
          <a:xfrm>
            <a:off x="5600700" y="2011680"/>
            <a:ext cx="1280160" cy="1691640"/>
          </a:xfrm>
          <a:prstGeom prst="rect">
            <a:avLst/>
          </a:prstGeom>
          <a:noFill/>
          <a:ln/>
        </p:spPr>
        <p:txBody>
          <a:bodyPr wrap="square" lIns="0" tIns="0" rIns="0" bIns="0" rtlCol="0" anchor="t"/>
          <a:lstStyle/>
          <a:p>
            <a:pPr marL="0" indent="0">
              <a:buNone/>
            </a:pPr>
            <a:r>
              <a:rPr lang="en-US" sz="1150" dirty="0">
                <a:solidFill>
                  <a:schemeClr val="accent6"/>
                </a:solidFill>
              </a:rPr>
              <a:t>Open the Digital Twin. Toggle layers, click School of Engineering for kW and tickets.</a:t>
            </a:r>
            <a:endParaRPr lang="en-US" sz="1150" dirty="0"/>
          </a:p>
        </p:txBody>
      </p:sp>
      <p:sp>
        <p:nvSpPr>
          <p:cNvPr id="27" name="Walk card 5"/>
          <p:cNvSpPr/>
          <p:nvPr/>
        </p:nvSpPr>
        <p:spPr>
          <a:xfrm>
            <a:off x="7132320" y="960120"/>
            <a:ext cx="1554480" cy="2834640"/>
          </a:xfrm>
          <a:prstGeom prst="roundRect">
            <a:avLst>
              <a:gd name="adj" fmla="val 4706"/>
            </a:avLst>
          </a:prstGeom>
          <a:solidFill>
            <a:schemeClr val="bg1"/>
          </a:solidFill>
          <a:ln/>
          <a:effectLst>
            <a:outerShdw blurRad="76200" dist="25400" dir="5400000" algn="bl" rotWithShape="0">
              <a:srgbClr val="0A1F1C">
                <a:alpha val="12000"/>
              </a:srgbClr>
            </a:outerShdw>
          </a:effectLst>
        </p:spPr>
      </p:sp>
      <p:sp>
        <p:nvSpPr>
          <p:cNvPr id="28" name="Walk Ask circle"/>
          <p:cNvSpPr/>
          <p:nvPr/>
        </p:nvSpPr>
        <p:spPr>
          <a:xfrm>
            <a:off x="7269480" y="1097280"/>
            <a:ext cx="420624" cy="420624"/>
          </a:xfrm>
          <a:prstGeom prst="ellipse">
            <a:avLst/>
          </a:prstGeom>
          <a:solidFill>
            <a:schemeClr val="accent1"/>
          </a:solidFill>
          <a:ln w="12700">
            <a:solidFill>
              <a:schemeClr val="accent1"/>
            </a:solidFill>
            <a:prstDash val="solid"/>
          </a:ln>
        </p:spPr>
      </p:sp>
      <p:pic>
        <p:nvPicPr>
          <p:cNvPr id="29" name="Walk Ask icon" descr="Walk Ask"/>
          <p:cNvPicPr>
            <a:picLocks noChangeAspect="1"/>
          </p:cNvPicPr>
          <p:nvPr/>
        </p:nvPicPr>
        <p:blipFill>
          <a:blip r:embed="rId7"/>
          <a:stretch>
            <a:fillRect/>
          </a:stretch>
        </p:blipFill>
        <p:spPr>
          <a:xfrm>
            <a:off x="7374636" y="1202436"/>
            <a:ext cx="210312" cy="210312"/>
          </a:xfrm>
          <a:prstGeom prst="rect">
            <a:avLst/>
          </a:prstGeom>
        </p:spPr>
      </p:pic>
      <p:sp>
        <p:nvSpPr>
          <p:cNvPr id="30" name="Text 23"/>
          <p:cNvSpPr txBox="1"/>
          <p:nvPr/>
        </p:nvSpPr>
        <p:spPr>
          <a:xfrm>
            <a:off x="8183880" y="1051560"/>
            <a:ext cx="365760" cy="457200"/>
          </a:xfrm>
          <a:prstGeom prst="rect">
            <a:avLst/>
          </a:prstGeom>
          <a:noFill/>
          <a:ln/>
        </p:spPr>
        <p:txBody>
          <a:bodyPr wrap="square" lIns="0" tIns="0" rIns="0" bIns="0" rtlCol="0" anchor="ctr"/>
          <a:lstStyle/>
          <a:p>
            <a:pPr marL="0" indent="0" algn="r">
              <a:buNone/>
            </a:pPr>
            <a:r>
              <a:rPr lang="en-US" sz="2200" b="1" dirty="0">
                <a:solidFill>
                  <a:schemeClr val="accent1">
                    <a:alpha val="35000"/>
                  </a:schemeClr>
                </a:solidFill>
                <a:latin typeface="+mj-lt" pitchFamily="34" charset="0"/>
                <a:ea typeface="+mj-lt" pitchFamily="34" charset="-122"/>
                <a:cs typeface="+mj-lt" pitchFamily="34" charset="-120"/>
              </a:rPr>
              <a:t>5</a:t>
            </a:r>
            <a:endParaRPr lang="en-US" sz="2200" dirty="0"/>
          </a:p>
        </p:txBody>
      </p:sp>
      <p:sp>
        <p:nvSpPr>
          <p:cNvPr id="31" name="Text 24"/>
          <p:cNvSpPr txBox="1"/>
          <p:nvPr/>
        </p:nvSpPr>
        <p:spPr>
          <a:xfrm>
            <a:off x="7269480" y="1664208"/>
            <a:ext cx="1280160" cy="274320"/>
          </a:xfrm>
          <a:prstGeom prst="rect">
            <a:avLst/>
          </a:prstGeom>
          <a:noFill/>
          <a:ln/>
        </p:spPr>
        <p:txBody>
          <a:bodyPr wrap="square" lIns="0" tIns="0" rIns="0" bIns="0" rtlCol="0" anchor="t"/>
          <a:lstStyle/>
          <a:p>
            <a:pPr marL="0" indent="0">
              <a:buNone/>
            </a:pPr>
            <a:r>
              <a:rPr lang="en-US" sz="1400" b="1" dirty="0">
                <a:solidFill>
                  <a:schemeClr val="tx2"/>
                </a:solidFill>
                <a:latin typeface="+mj-lt" pitchFamily="34" charset="0"/>
                <a:ea typeface="+mj-lt" pitchFamily="34" charset="-122"/>
                <a:cs typeface="+mj-lt" pitchFamily="34" charset="-120"/>
              </a:rPr>
              <a:t>Ask</a:t>
            </a:r>
            <a:endParaRPr lang="en-US" sz="1400" dirty="0"/>
          </a:p>
        </p:txBody>
      </p:sp>
      <p:sp>
        <p:nvSpPr>
          <p:cNvPr id="32" name="Text 25"/>
          <p:cNvSpPr txBox="1"/>
          <p:nvPr/>
        </p:nvSpPr>
        <p:spPr>
          <a:xfrm>
            <a:off x="7269480" y="2011680"/>
            <a:ext cx="1280160" cy="1691640"/>
          </a:xfrm>
          <a:prstGeom prst="rect">
            <a:avLst/>
          </a:prstGeom>
          <a:noFill/>
          <a:ln/>
        </p:spPr>
        <p:txBody>
          <a:bodyPr wrap="square" lIns="0" tIns="0" rIns="0" bIns="0" rtlCol="0" anchor="t"/>
          <a:lstStyle/>
          <a:p>
            <a:pPr marL="0" indent="0">
              <a:buNone/>
            </a:pPr>
            <a:r>
              <a:rPr lang="en-US" sz="1150" dirty="0">
                <a:solidFill>
                  <a:schemeClr val="accent6"/>
                </a:solidFill>
              </a:rPr>
              <a:t>Open EcoVerse Copilot. Try "most common issues" or "status of ECO-2026-0104".</a:t>
            </a:r>
            <a:endParaRPr lang="en-US" sz="1150" dirty="0"/>
          </a:p>
        </p:txBody>
      </p:sp>
      <p:sp>
        <p:nvSpPr>
          <p:cNvPr id="33" name="Walkthrough tip bar"/>
          <p:cNvSpPr/>
          <p:nvPr/>
        </p:nvSpPr>
        <p:spPr>
          <a:xfrm>
            <a:off x="457200" y="4023360"/>
            <a:ext cx="8229600" cy="640080"/>
          </a:xfrm>
          <a:prstGeom prst="roundRect">
            <a:avLst>
              <a:gd name="adj" fmla="val 11429"/>
            </a:avLst>
          </a:prstGeom>
          <a:solidFill>
            <a:schemeClr val="tx1"/>
          </a:solidFill>
          <a:ln/>
        </p:spPr>
      </p:sp>
      <p:sp>
        <p:nvSpPr>
          <p:cNvPr id="34" name="Text 27"/>
          <p:cNvSpPr txBox="1"/>
          <p:nvPr/>
        </p:nvSpPr>
        <p:spPr>
          <a:xfrm>
            <a:off x="685800" y="4023360"/>
            <a:ext cx="7772400" cy="640080"/>
          </a:xfrm>
          <a:prstGeom prst="rect">
            <a:avLst/>
          </a:prstGeom>
          <a:noFill/>
          <a:ln/>
        </p:spPr>
        <p:txBody>
          <a:bodyPr wrap="square" lIns="0" tIns="0" rIns="0" bIns="0" rtlCol="0" anchor="ctr"/>
          <a:lstStyle/>
          <a:p>
            <a:pPr marL="0" indent="0">
              <a:buNone/>
            </a:pPr>
            <a:r>
              <a:rPr lang="en-US" sz="1150" dirty="0">
                <a:solidFill>
                  <a:schemeClr val="bg1"/>
                </a:solidFill>
              </a:rPr>
              <a:t>Login is one click per role, no password. Open the site on two devices to watch reports and bin changes sync live.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chemeClr val="bg1"/>
                </a:solidFill>
              </a:rPr>
              <a:t>Where we are, and what is next</a:t>
            </a:r>
            <a:endParaRPr lang="en-US" sz="2600" dirty="0"/>
          </a:p>
        </p:txBody>
      </p:sp>
      <p:sp>
        <p:nvSpPr>
          <p:cNvPr id="3" name="Status column WORKING TODAY"/>
          <p:cNvSpPr/>
          <p:nvPr/>
        </p:nvSpPr>
        <p:spPr>
          <a:xfrm>
            <a:off x="457200" y="1005840"/>
            <a:ext cx="2606040" cy="3063240"/>
          </a:xfrm>
          <a:prstGeom prst="roundRect">
            <a:avLst>
              <a:gd name="adj" fmla="val 2807"/>
            </a:avLst>
          </a:prstGeom>
          <a:solidFill>
            <a:schemeClr val="tx2"/>
          </a:solidFill>
          <a:ln/>
        </p:spPr>
      </p:sp>
      <p:sp>
        <p:nvSpPr>
          <p:cNvPr id="4" name="Status WORKING TODAY circle"/>
          <p:cNvSpPr/>
          <p:nvPr/>
        </p:nvSpPr>
        <p:spPr>
          <a:xfrm>
            <a:off x="621792" y="1143000"/>
            <a:ext cx="365760" cy="365760"/>
          </a:xfrm>
          <a:prstGeom prst="ellipse">
            <a:avLst/>
          </a:prstGeom>
          <a:solidFill>
            <a:schemeClr val="accent2"/>
          </a:solidFill>
          <a:ln w="12700">
            <a:solidFill>
              <a:schemeClr val="accent2"/>
            </a:solidFill>
            <a:prstDash val="solid"/>
          </a:ln>
        </p:spPr>
      </p:sp>
      <p:pic>
        <p:nvPicPr>
          <p:cNvPr id="5" name="Status WORKING TODAY icon" descr="Status WORKING TODAY"/>
          <p:cNvPicPr>
            <a:picLocks noChangeAspect="1"/>
          </p:cNvPicPr>
          <p:nvPr/>
        </p:nvPicPr>
        <p:blipFill>
          <a:blip r:embed="rId3"/>
          <a:stretch>
            <a:fillRect/>
          </a:stretch>
        </p:blipFill>
        <p:spPr>
          <a:xfrm>
            <a:off x="713232" y="1234440"/>
            <a:ext cx="182880" cy="182880"/>
          </a:xfrm>
          <a:prstGeom prst="rect">
            <a:avLst/>
          </a:prstGeom>
        </p:spPr>
      </p:pic>
      <p:sp>
        <p:nvSpPr>
          <p:cNvPr id="6" name="Text 3"/>
          <p:cNvSpPr txBox="1"/>
          <p:nvPr/>
        </p:nvSpPr>
        <p:spPr>
          <a:xfrm>
            <a:off x="1115568" y="1143000"/>
            <a:ext cx="1828800" cy="365760"/>
          </a:xfrm>
          <a:prstGeom prst="rect">
            <a:avLst/>
          </a:prstGeom>
          <a:noFill/>
          <a:ln/>
        </p:spPr>
        <p:txBody>
          <a:bodyPr wrap="square" lIns="0" tIns="0" rIns="0" bIns="0" rtlCol="0" anchor="ctr"/>
          <a:lstStyle/>
          <a:p>
            <a:pPr marL="0" indent="0">
              <a:buNone/>
            </a:pPr>
            <a:r>
              <a:rPr lang="en-US" sz="1100" b="1" kern="0" spc="100" dirty="0">
                <a:solidFill>
                  <a:schemeClr val="accent2"/>
                </a:solidFill>
              </a:rPr>
              <a:t>WORKING TODAY</a:t>
            </a:r>
            <a:endParaRPr lang="en-US" sz="1100" dirty="0"/>
          </a:p>
        </p:txBody>
      </p:sp>
      <p:sp>
        <p:nvSpPr>
          <p:cNvPr id="7" name="Text 4"/>
          <p:cNvSpPr txBox="1"/>
          <p:nvPr/>
        </p:nvSpPr>
        <p:spPr>
          <a:xfrm>
            <a:off x="621792" y="1691640"/>
            <a:ext cx="2286000" cy="228600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chemeClr val="bg1"/>
                </a:solidFill>
              </a:rPr>
              <a:t>Full 3-role lifecycle: technician photo proof, admin verify or rework</a:t>
            </a:r>
            <a:endParaRPr lang="en-US" sz="1150" dirty="0"/>
          </a:p>
          <a:p>
            <a:pPr marL="152400" indent="-152400">
              <a:spcAft>
                <a:spcPts val="800"/>
              </a:spcAft>
              <a:buSzPct val="100000"/>
              <a:buChar char="•"/>
            </a:pPr>
            <a:r>
              <a:rPr lang="en-US" sz="1150" dirty="0">
                <a:solidFill>
                  <a:schemeClr val="bg1"/>
                </a:solidFill>
              </a:rPr>
              <a:t>Reports and bins shared across devices via Supabase Realtime</a:t>
            </a:r>
            <a:endParaRPr lang="en-US" sz="1150" dirty="0"/>
          </a:p>
          <a:p>
            <a:pPr marL="152400" indent="-152400">
              <a:spcAft>
                <a:spcPts val="800"/>
              </a:spcAft>
              <a:buSzPct val="100000"/>
              <a:buChar char="•"/>
            </a:pPr>
            <a:r>
              <a:rPr lang="en-US" sz="1150" dirty="0">
                <a:solidFill>
                  <a:schemeClr val="bg1"/>
                </a:solidFill>
              </a:rPr>
              <a:t>Admin workflow dashboard with print-to-PDF audit report</a:t>
            </a:r>
            <a:endParaRPr lang="en-US" sz="1150" dirty="0"/>
          </a:p>
          <a:p>
            <a:pPr marL="152400" indent="-152400">
              <a:spcAft>
                <a:spcPts val="800"/>
              </a:spcAft>
              <a:buSzPct val="100000"/>
              <a:buChar char="•"/>
            </a:pPr>
            <a:r>
              <a:rPr lang="en-US" sz="1150" dirty="0">
                <a:solidFill>
                  <a:schemeClr val="bg1"/>
                </a:solidFill>
              </a:rPr>
              <a:t>Six track UIs, interactive twin, what-if simulators</a:t>
            </a:r>
            <a:endParaRPr lang="en-US" sz="1150" dirty="0"/>
          </a:p>
        </p:txBody>
      </p:sp>
      <p:sp>
        <p:nvSpPr>
          <p:cNvPr id="8" name="Status column SIMULATED TODAY"/>
          <p:cNvSpPr/>
          <p:nvPr/>
        </p:nvSpPr>
        <p:spPr>
          <a:xfrm>
            <a:off x="3268980" y="1005840"/>
            <a:ext cx="2606040" cy="3063240"/>
          </a:xfrm>
          <a:prstGeom prst="roundRect">
            <a:avLst>
              <a:gd name="adj" fmla="val 2807"/>
            </a:avLst>
          </a:prstGeom>
          <a:solidFill>
            <a:schemeClr val="tx2"/>
          </a:solidFill>
          <a:ln/>
        </p:spPr>
      </p:sp>
      <p:sp>
        <p:nvSpPr>
          <p:cNvPr id="9" name="Status SIMULATED TODAY circle"/>
          <p:cNvSpPr/>
          <p:nvPr/>
        </p:nvSpPr>
        <p:spPr>
          <a:xfrm>
            <a:off x="3433572" y="1143000"/>
            <a:ext cx="365760" cy="365760"/>
          </a:xfrm>
          <a:prstGeom prst="ellipse">
            <a:avLst/>
          </a:prstGeom>
          <a:solidFill>
            <a:schemeClr val="accent3"/>
          </a:solidFill>
          <a:ln w="12700">
            <a:solidFill>
              <a:schemeClr val="accent3"/>
            </a:solidFill>
            <a:prstDash val="solid"/>
          </a:ln>
        </p:spPr>
      </p:sp>
      <p:pic>
        <p:nvPicPr>
          <p:cNvPr id="10" name="Status SIMULATED TODAY icon" descr="Status SIMULATED TODAY"/>
          <p:cNvPicPr>
            <a:picLocks noChangeAspect="1"/>
          </p:cNvPicPr>
          <p:nvPr/>
        </p:nvPicPr>
        <p:blipFill>
          <a:blip r:embed="rId4"/>
          <a:stretch>
            <a:fillRect/>
          </a:stretch>
        </p:blipFill>
        <p:spPr>
          <a:xfrm>
            <a:off x="3525012" y="1234440"/>
            <a:ext cx="182880" cy="182880"/>
          </a:xfrm>
          <a:prstGeom prst="rect">
            <a:avLst/>
          </a:prstGeom>
        </p:spPr>
      </p:pic>
      <p:sp>
        <p:nvSpPr>
          <p:cNvPr id="11" name="Text 7"/>
          <p:cNvSpPr txBox="1"/>
          <p:nvPr/>
        </p:nvSpPr>
        <p:spPr>
          <a:xfrm>
            <a:off x="3927348" y="1143000"/>
            <a:ext cx="1828800" cy="365760"/>
          </a:xfrm>
          <a:prstGeom prst="rect">
            <a:avLst/>
          </a:prstGeom>
          <a:noFill/>
          <a:ln/>
        </p:spPr>
        <p:txBody>
          <a:bodyPr wrap="square" lIns="0" tIns="0" rIns="0" bIns="0" rtlCol="0" anchor="ctr"/>
          <a:lstStyle/>
          <a:p>
            <a:pPr marL="0" indent="0">
              <a:buNone/>
            </a:pPr>
            <a:r>
              <a:rPr lang="en-US" sz="1100" b="1" kern="0" spc="100" dirty="0">
                <a:solidFill>
                  <a:schemeClr val="accent3"/>
                </a:solidFill>
              </a:rPr>
              <a:t>SIMULATED TODAY</a:t>
            </a:r>
            <a:endParaRPr lang="en-US" sz="1100" dirty="0"/>
          </a:p>
        </p:txBody>
      </p:sp>
      <p:sp>
        <p:nvSpPr>
          <p:cNvPr id="12" name="Text 8"/>
          <p:cNvSpPr txBox="1"/>
          <p:nvPr/>
        </p:nvSpPr>
        <p:spPr>
          <a:xfrm>
            <a:off x="3433572" y="1691640"/>
            <a:ext cx="2286000" cy="228600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chemeClr val="bg1"/>
                </a:solidFill>
              </a:rPr>
              <a:t>CV is keyword matching on the photo, not a trained model</a:t>
            </a:r>
            <a:endParaRPr lang="en-US" sz="1150" dirty="0"/>
          </a:p>
          <a:p>
            <a:pPr marL="152400" indent="-152400">
              <a:spcAft>
                <a:spcPts val="800"/>
              </a:spcAft>
              <a:buSzPct val="100000"/>
              <a:buChar char="•"/>
            </a:pPr>
            <a:r>
              <a:rPr lang="en-US" sz="1150" dirty="0">
                <a:solidFill>
                  <a:schemeClr val="bg1"/>
                </a:solidFill>
              </a:rPr>
              <a:t>Telemetry and AI confidence scores are demo data</a:t>
            </a:r>
            <a:endParaRPr lang="en-US" sz="1150" dirty="0"/>
          </a:p>
          <a:p>
            <a:pPr marL="152400" indent="-152400">
              <a:spcAft>
                <a:spcPts val="800"/>
              </a:spcAft>
              <a:buSzPct val="100000"/>
              <a:buChar char="•"/>
            </a:pPr>
            <a:r>
              <a:rPr lang="en-US" sz="1150" dirty="0">
                <a:solidFill>
                  <a:schemeClr val="bg1"/>
                </a:solidFill>
              </a:rPr>
              <a:t>Copilot is rule-based, not an LLM</a:t>
            </a:r>
            <a:endParaRPr lang="en-US" sz="1150" dirty="0"/>
          </a:p>
          <a:p>
            <a:pPr marL="152400" indent="-152400">
              <a:spcAft>
                <a:spcPts val="800"/>
              </a:spcAft>
              <a:buSzPct val="100000"/>
              <a:buChar char="•"/>
            </a:pPr>
            <a:r>
              <a:rPr lang="en-US" sz="1150" dirty="0">
                <a:solidFill>
                  <a:schemeClr val="bg1"/>
                </a:solidFill>
              </a:rPr>
              <a:t>Role login is one-click and the database is open-edit by design</a:t>
            </a:r>
            <a:endParaRPr lang="en-US" sz="1150" dirty="0"/>
          </a:p>
        </p:txBody>
      </p:sp>
      <p:sp>
        <p:nvSpPr>
          <p:cNvPr id="13" name="Status column NEXT"/>
          <p:cNvSpPr/>
          <p:nvPr/>
        </p:nvSpPr>
        <p:spPr>
          <a:xfrm>
            <a:off x="6080760" y="1005840"/>
            <a:ext cx="2606040" cy="3063240"/>
          </a:xfrm>
          <a:prstGeom prst="roundRect">
            <a:avLst>
              <a:gd name="adj" fmla="val 2807"/>
            </a:avLst>
          </a:prstGeom>
          <a:solidFill>
            <a:schemeClr val="tx2"/>
          </a:solidFill>
          <a:ln/>
        </p:spPr>
      </p:sp>
      <p:sp>
        <p:nvSpPr>
          <p:cNvPr id="14" name="Status NEXT circle"/>
          <p:cNvSpPr/>
          <p:nvPr/>
        </p:nvSpPr>
        <p:spPr>
          <a:xfrm>
            <a:off x="6245352" y="1143000"/>
            <a:ext cx="365760" cy="365760"/>
          </a:xfrm>
          <a:prstGeom prst="ellipse">
            <a:avLst/>
          </a:prstGeom>
          <a:solidFill>
            <a:srgbClr val="38BDF8"/>
          </a:solidFill>
          <a:ln w="12700">
            <a:solidFill>
              <a:srgbClr val="38BDF8"/>
            </a:solidFill>
            <a:prstDash val="solid"/>
          </a:ln>
        </p:spPr>
      </p:sp>
      <p:pic>
        <p:nvPicPr>
          <p:cNvPr id="15" name="Status NEXT icon" descr="Status NEXT"/>
          <p:cNvPicPr>
            <a:picLocks noChangeAspect="1"/>
          </p:cNvPicPr>
          <p:nvPr/>
        </p:nvPicPr>
        <p:blipFill>
          <a:blip r:embed="rId5"/>
          <a:stretch>
            <a:fillRect/>
          </a:stretch>
        </p:blipFill>
        <p:spPr>
          <a:xfrm>
            <a:off x="6336792" y="1234440"/>
            <a:ext cx="182880" cy="182880"/>
          </a:xfrm>
          <a:prstGeom prst="rect">
            <a:avLst/>
          </a:prstGeom>
        </p:spPr>
      </p:pic>
      <p:sp>
        <p:nvSpPr>
          <p:cNvPr id="16" name="Text 11"/>
          <p:cNvSpPr txBox="1"/>
          <p:nvPr/>
        </p:nvSpPr>
        <p:spPr>
          <a:xfrm>
            <a:off x="6739128" y="1143000"/>
            <a:ext cx="1828800" cy="365760"/>
          </a:xfrm>
          <a:prstGeom prst="rect">
            <a:avLst/>
          </a:prstGeom>
          <a:noFill/>
          <a:ln/>
        </p:spPr>
        <p:txBody>
          <a:bodyPr wrap="square" lIns="0" tIns="0" rIns="0" bIns="0" rtlCol="0" anchor="ctr"/>
          <a:lstStyle/>
          <a:p>
            <a:pPr marL="0" indent="0">
              <a:buNone/>
            </a:pPr>
            <a:r>
              <a:rPr lang="en-US" sz="1100" b="1" kern="0" spc="100" dirty="0">
                <a:solidFill>
                  <a:srgbClr val="38BDF8"/>
                </a:solidFill>
              </a:rPr>
              <a:t>NEXT</a:t>
            </a:r>
            <a:endParaRPr lang="en-US" sz="1100" dirty="0"/>
          </a:p>
        </p:txBody>
      </p:sp>
      <p:sp>
        <p:nvSpPr>
          <p:cNvPr id="17" name="Text 12"/>
          <p:cNvSpPr txBox="1"/>
          <p:nvPr/>
        </p:nvSpPr>
        <p:spPr>
          <a:xfrm>
            <a:off x="6245352" y="1691640"/>
            <a:ext cx="2286000" cy="228600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chemeClr val="bg1"/>
                </a:solidFill>
              </a:rPr>
              <a:t>Real </a:t>
            </a:r>
            <a:r>
              <a:rPr lang="en-US" sz="1150" dirty="0" err="1">
                <a:solidFill>
                  <a:schemeClr val="bg1"/>
                </a:solidFill>
              </a:rPr>
              <a:t>auth</a:t>
            </a:r>
            <a:r>
              <a:rPr lang="en-US" sz="1150" dirty="0">
                <a:solidFill>
                  <a:schemeClr val="bg1"/>
                </a:solidFill>
              </a:rPr>
              <a:t> and role-based </a:t>
            </a:r>
            <a:r>
              <a:rPr lang="en-US" sz="1150" dirty="0" smtClean="0">
                <a:solidFill>
                  <a:schemeClr val="bg1"/>
                </a:solidFill>
              </a:rPr>
              <a:t>access</a:t>
            </a:r>
          </a:p>
          <a:p>
            <a:pPr marL="152400" indent="-152400">
              <a:spcAft>
                <a:spcPts val="800"/>
              </a:spcAft>
              <a:buSzPct val="100000"/>
              <a:buChar char="•"/>
            </a:pPr>
            <a:r>
              <a:rPr lang="en-US" sz="1150" dirty="0" smtClean="0">
                <a:solidFill>
                  <a:schemeClr val="bg1"/>
                </a:solidFill>
              </a:rPr>
              <a:t>Train </a:t>
            </a:r>
            <a:r>
              <a:rPr lang="en-US" sz="1150" dirty="0">
                <a:solidFill>
                  <a:schemeClr val="bg1"/>
                </a:solidFill>
              </a:rPr>
              <a:t>a real classifier on labelled campus images</a:t>
            </a:r>
            <a:endParaRPr lang="en-US" sz="1150" dirty="0" smtClean="0"/>
          </a:p>
          <a:p>
            <a:pPr marL="152400" indent="-152400">
              <a:spcAft>
                <a:spcPts val="800"/>
              </a:spcAft>
              <a:buSzPct val="100000"/>
              <a:buChar char="•"/>
            </a:pPr>
            <a:r>
              <a:rPr lang="en-US" sz="1150" dirty="0" smtClean="0">
                <a:solidFill>
                  <a:schemeClr val="bg1"/>
                </a:solidFill>
              </a:rPr>
              <a:t>Ingest </a:t>
            </a:r>
            <a:r>
              <a:rPr lang="en-US" sz="1150" dirty="0">
                <a:solidFill>
                  <a:schemeClr val="bg1"/>
                </a:solidFill>
              </a:rPr>
              <a:t>real IoT sensor feeds</a:t>
            </a:r>
            <a:endParaRPr lang="en-US" sz="1150" dirty="0"/>
          </a:p>
          <a:p>
            <a:pPr marL="152400" indent="-152400">
              <a:spcAft>
                <a:spcPts val="800"/>
              </a:spcAft>
              <a:buSzPct val="100000"/>
              <a:buChar char="•"/>
            </a:pPr>
            <a:r>
              <a:rPr lang="en-US" sz="1150" dirty="0">
                <a:solidFill>
                  <a:schemeClr val="bg1"/>
                </a:solidFill>
              </a:rPr>
              <a:t>LLM-backed Copilot with tool access</a:t>
            </a:r>
            <a:endParaRPr lang="en-US" sz="1150" dirty="0"/>
          </a:p>
        </p:txBody>
      </p:sp>
      <p:sp>
        <p:nvSpPr>
          <p:cNvPr id="18" name="Text 13"/>
          <p:cNvSpPr txBox="1"/>
          <p:nvPr/>
        </p:nvSpPr>
        <p:spPr>
          <a:xfrm>
            <a:off x="457200" y="4389120"/>
            <a:ext cx="3657600" cy="320040"/>
          </a:xfrm>
          <a:prstGeom prst="rect">
            <a:avLst/>
          </a:prstGeom>
          <a:noFill/>
          <a:ln/>
        </p:spPr>
        <p:txBody>
          <a:bodyPr wrap="square" lIns="0" tIns="0" rIns="0" bIns="0" rtlCol="0" anchor="ctr"/>
          <a:lstStyle/>
          <a:p>
            <a:pPr marL="0" indent="0">
              <a:buNone/>
            </a:pPr>
            <a:r>
              <a:rPr lang="en-US" sz="1600" b="1" dirty="0">
                <a:solidFill>
                  <a:schemeClr val="accent2"/>
                </a:solidFill>
                <a:latin typeface="+mj-lt" pitchFamily="34" charset="0"/>
                <a:ea typeface="+mj-lt" pitchFamily="34" charset="-122"/>
                <a:cs typeface="+mj-lt" pitchFamily="34" charset="-120"/>
              </a:rPr>
              <a:t>EcoVerse AI</a:t>
            </a:r>
            <a:endParaRPr lang="en-US" sz="1600" dirty="0"/>
          </a:p>
        </p:txBody>
      </p:sp>
      <p:sp>
        <p:nvSpPr>
          <p:cNvPr id="19" name="Text 14"/>
          <p:cNvSpPr txBox="1"/>
          <p:nvPr/>
        </p:nvSpPr>
        <p:spPr>
          <a:xfrm>
            <a:off x="5029200" y="4389120"/>
            <a:ext cx="3657600" cy="320040"/>
          </a:xfrm>
          <a:prstGeom prst="rect">
            <a:avLst/>
          </a:prstGeom>
          <a:noFill/>
          <a:ln/>
        </p:spPr>
        <p:txBody>
          <a:bodyPr wrap="square" lIns="0" tIns="0" rIns="0" bIns="0" rtlCol="0" anchor="ctr"/>
          <a:lstStyle/>
          <a:p>
            <a:pPr marL="0" indent="0" algn="r">
              <a:buNone/>
            </a:pPr>
            <a:r>
              <a:rPr lang="en-US" sz="1300" dirty="0">
                <a:solidFill>
                  <a:schemeClr val="bg1"/>
                </a:solidFill>
              </a:rPr>
              <a:t>Thank </a:t>
            </a:r>
            <a:r>
              <a:rPr lang="en-US" sz="1300" dirty="0" smtClean="0">
                <a:solidFill>
                  <a:schemeClr val="bg1"/>
                </a:solidFill>
              </a:rPr>
              <a:t>You</a:t>
            </a:r>
            <a:endParaRPr lang="en-US" sz="1300" dirty="0"/>
          </a:p>
        </p:txBody>
      </p:sp>
    </p:spTree>
  </p:cSld>
  <p:clrMapOvr>
    <a:masterClrMapping/>
  </p:clrMapOvr>
</p:sld>
</file>

<file path=ppt/theme/theme1.xml><?xml version="1.0" encoding="utf-8"?>
<a:theme xmlns:a="http://schemas.openxmlformats.org/drawingml/2006/main" name="EcoVerse">
  <a:themeElements>
    <a:clrScheme name="EcoVerse">
      <a:dk1>
        <a:srgbClr val="0A1F1C"/>
      </a:dk1>
      <a:lt1>
        <a:srgbClr val="FFFFFF"/>
      </a:lt1>
      <a:dk2>
        <a:srgbClr val="12302B"/>
      </a:dk2>
      <a:lt2>
        <a:srgbClr val="F2F8F6"/>
      </a:lt2>
      <a:accent1>
        <a:srgbClr val="0F766E"/>
      </a:accent1>
      <a:accent2>
        <a:srgbClr val="10B981"/>
      </a:accent2>
      <a:accent3>
        <a:srgbClr val="F59E0B"/>
      </a:accent3>
      <a:accent4>
        <a:srgbClr val="E11D48"/>
      </a:accent4>
      <a:accent5>
        <a:srgbClr val="D8EFE8"/>
      </a:accent5>
      <a:accent6>
        <a:srgbClr val="5B7570"/>
      </a:accent6>
      <a:hlink>
        <a:srgbClr val="0F766E"/>
      </a:hlink>
      <a:folHlink>
        <a:srgbClr val="5B7570"/>
      </a:folHlink>
    </a:clrScheme>
    <a:fontScheme name="EcoVe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1526</Words>
  <Application>Microsoft Office PowerPoint</Application>
  <PresentationFormat>On-screen Show (16:9)</PresentationFormat>
  <Paragraphs>194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EcoVerse</vt:lpstr>
      <vt:lpstr>EcoVerse AI</vt:lpstr>
      <vt:lpstr>Campuses see waste. Nobody owns the fix</vt:lpstr>
      <vt:lpstr>One loop: perceive, understand, act</vt:lpstr>
      <vt:lpstr>Six tracks, one platform</vt:lpstr>
      <vt:lpstr>The flagship: report to verified fix</vt:lpstr>
      <vt:lpstr>A live digital twin of the campus</vt:lpstr>
      <vt:lpstr>What-if engines price the payoff</vt:lpstr>
      <vt:lpstr>Architecture and stack</vt:lpstr>
      <vt:lpstr>Judge walkthrough: five minutes</vt:lpstr>
      <vt:lpstr>Where we are, and what is next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EcoVerse AI - Final Presentation (Supabase update)</dc:title>
  <dc:subject>PptxGenJS Presentation</dc:subject>
  <dc:creator>EcoVerse AI</dc:creator>
  <cp:lastModifiedBy>Microsoft account</cp:lastModifiedBy>
  <cp:revision>2</cp:revision>
  <dcterms:created xsi:type="dcterms:W3CDTF">2026-10-16T10:07:09Z</dcterms:created>
  <dcterms:modified xsi:type="dcterms:W3CDTF">2026-10-16T10:11:52Z</dcterms:modified>
</cp:coreProperties>
</file>